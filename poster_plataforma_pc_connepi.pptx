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397700" cy="43192700"/>
  <p:notesSz cx="6858000" cy="9144000"/>
  <p:embeddedFontLst>
    <p:embeddedFont>
      <p:font typeface="Montserrat" pitchFamily="2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00" y="-40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mailto:xxxx@email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99288" cy="4589459"/>
            <a:chOff x="0" y="0"/>
            <a:chExt cx="43199050" cy="6119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99050" cy="6119241"/>
            </a:xfrm>
            <a:custGeom>
              <a:avLst/>
              <a:gdLst/>
              <a:ahLst/>
              <a:cxnLst/>
              <a:rect l="l" t="t" r="r" b="b"/>
              <a:pathLst>
                <a:path w="43199050" h="6119241">
                  <a:moveTo>
                    <a:pt x="0" y="0"/>
                  </a:moveTo>
                  <a:lnTo>
                    <a:pt x="43199050" y="0"/>
                  </a:lnTo>
                  <a:lnTo>
                    <a:pt x="43199050" y="6119241"/>
                  </a:lnTo>
                  <a:lnTo>
                    <a:pt x="0" y="6119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68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80000" y="5400000"/>
            <a:ext cx="30240000" cy="237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00"/>
              </a:lnSpc>
              <a:spcAft>
                <a:spcPts val="0"/>
              </a:spcAft>
              <a:buNone/>
            </a:pPr>
            <a:r>
              <a:rPr lang="pt-BR" sz="80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PLATAFORMA WEB EDUCACIONAL PARA O ENSINO DE PENSAMENTO COMPUTACIONAL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000" y="8208000"/>
            <a:ext cx="30240000" cy="21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  <a:spcAft>
                <a:spcPts val="0"/>
              </a:spcAft>
              <a:buNone/>
            </a:pPr>
            <a:r>
              <a:rPr lang="pt-BR" sz="4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Guilherme Freitas Oliveira (IFBA); Ana Carolina Sokolonski (IFBA)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Autor correspondente: carolsoko@ifba.edu.br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Instituição: Instituto Federal da Bahia (IFBA) – Campus Feira de Santana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569738" y="1257300"/>
            <a:ext cx="6448425" cy="1862138"/>
            <a:chOff x="0" y="0"/>
            <a:chExt cx="8597900" cy="2482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97900" cy="2482850"/>
            </a:xfrm>
            <a:custGeom>
              <a:avLst/>
              <a:gdLst/>
              <a:ahLst/>
              <a:cxnLst/>
              <a:rect l="l" t="t" r="r" b="b"/>
              <a:pathLst>
                <a:path w="8597900" h="2482850">
                  <a:moveTo>
                    <a:pt x="0" y="0"/>
                  </a:moveTo>
                  <a:lnTo>
                    <a:pt x="8597900" y="0"/>
                  </a:lnTo>
                  <a:lnTo>
                    <a:pt x="8597900" y="2482850"/>
                  </a:lnTo>
                  <a:lnTo>
                    <a:pt x="0" y="248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1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000" y="11376000"/>
            <a:ext cx="9097347" cy="1805970"/>
            <a:chOff x="0" y="0"/>
            <a:chExt cx="48752948" cy="9678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5999" y="11376000"/>
            <a:ext cx="8640000" cy="1807199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ÁREA TEMÁTICA E ODS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664000" y="17640000"/>
            <a:ext cx="9097347" cy="1805970"/>
            <a:chOff x="0" y="0"/>
            <a:chExt cx="48752948" cy="96782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916000" y="176400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RESULTADOS E DISCUSSÃO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2104000" y="14004000"/>
            <a:ext cx="9097347" cy="1805970"/>
            <a:chOff x="0" y="0"/>
            <a:chExt cx="48752948" cy="96782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2356000" y="140040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CONCLUSÕES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-4762" y="42654541"/>
            <a:ext cx="32408812" cy="549278"/>
            <a:chOff x="0" y="0"/>
            <a:chExt cx="43211750" cy="7323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1750" cy="732409"/>
            </a:xfrm>
            <a:custGeom>
              <a:avLst/>
              <a:gdLst/>
              <a:ahLst/>
              <a:cxnLst/>
              <a:rect l="l" t="t" r="r" b="b"/>
              <a:pathLst>
                <a:path w="43211750" h="732409">
                  <a:moveTo>
                    <a:pt x="0" y="0"/>
                  </a:moveTo>
                  <a:lnTo>
                    <a:pt x="43211750" y="0"/>
                  </a:lnTo>
                  <a:lnTo>
                    <a:pt x="43211750" y="732409"/>
                  </a:lnTo>
                  <a:lnTo>
                    <a:pt x="0" y="732409"/>
                  </a:lnTo>
                  <a:close/>
                </a:path>
              </a:pathLst>
            </a:custGeom>
            <a:solidFill>
              <a:srgbClr val="861141"/>
            </a:solidFill>
            <a:ln w="9525" cap="sq">
              <a:solidFill>
                <a:srgbClr val="50200C"/>
              </a:solidFill>
              <a:prstDash val="solid"/>
              <a:miter/>
            </a:ln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4000" y="16891200"/>
            <a:ext cx="9097347" cy="1805970"/>
            <a:chOff x="0" y="0"/>
            <a:chExt cx="48752948" cy="9678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75999" y="168912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24000" y="29030400"/>
            <a:ext cx="9097347" cy="1805970"/>
            <a:chOff x="0" y="0"/>
            <a:chExt cx="48752948" cy="9678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75999" y="290304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MATERIAL E MÉTODOS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2104000" y="27482399"/>
            <a:ext cx="9097347" cy="1805970"/>
            <a:chOff x="0" y="0"/>
            <a:chExt cx="48752948" cy="9678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2356000" y="27482399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2104000" y="20383200"/>
            <a:ext cx="9097347" cy="1805970"/>
            <a:chOff x="0" y="0"/>
            <a:chExt cx="48752948" cy="96782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356000" y="203832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AGRADECIMENTOS</a:t>
            </a:r>
          </a:p>
        </p:txBody>
      </p:sp>
      <p:sp>
        <p:nvSpPr>
          <p:cNvPr id="201" name="Area ODS"/>
          <p:cNvSpPr txBox="1"/>
          <p:nvPr/>
        </p:nvSpPr>
        <p:spPr>
          <a:xfrm>
            <a:off x="1224000" y="13507200"/>
            <a:ext cx="9108000" cy="30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5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Área/Subárea: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Área 01 – Ciências Exatas e da Terra / Ciência da Computação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ODS: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ODS04 e ODS09</a:t>
            </a:r>
          </a:p>
        </p:txBody>
      </p:sp>
      <p:sp>
        <p:nvSpPr>
          <p:cNvPr id="202" name="Introducao"/>
          <p:cNvSpPr txBox="1"/>
          <p:nvPr/>
        </p:nvSpPr>
        <p:spPr>
          <a:xfrm>
            <a:off x="1224000" y="19022400"/>
            <a:ext cx="9108000" cy="97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 Pensamento Computacional (PC) é a capacidade de formular problemas e construir soluções de forma lógica (WING, 2006), com quatro pilares: decomposição, padrões, abstração e algoritmos (BRACKMANN, 2017). No Brasil, é reforçado pelo complemento de Computação à BNCC (BRASIL, 2022).</a:t>
            </a:r>
          </a:p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 versão original da plataforma MAPEAR, em HTML e JavaScript puro, era monolítica e fortemente acoplada, típico de sistemas legados (COMELLA-DORDA et al., 2000).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Objetivo: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reestruturar essa versão para uma arquitetura de componentes com React e Next.js, preservando os conteúdos de PC.</a:t>
            </a:r>
          </a:p>
        </p:txBody>
      </p:sp>
      <p:sp>
        <p:nvSpPr>
          <p:cNvPr id="203" name="Metodos"/>
          <p:cNvSpPr txBox="1"/>
          <p:nvPr/>
        </p:nvSpPr>
        <p:spPr>
          <a:xfrm>
            <a:off x="1224000" y="31161600"/>
            <a:ext cx="9108000" cy="266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Pesquisa aplicada (GIL, 2002), conduzida como reengenharia de software, de forma iterativa e incremental, em quatro etapas:</a:t>
            </a:r>
          </a:p>
        </p:txBody>
      </p:sp>
      <p:sp>
        <p:nvSpPr>
          <p:cNvPr id="204" name="Etapa 1"/>
          <p:cNvSpPr/>
          <p:nvPr/>
        </p:nvSpPr>
        <p:spPr>
          <a:xfrm>
            <a:off x="1224000" y="33825600"/>
            <a:ext cx="9108000" cy="1296000"/>
          </a:xfrm>
          <a:prstGeom prst="roundRect">
            <a:avLst>
              <a:gd name="adj" fmla="val 12000"/>
            </a:avLst>
          </a:prstGeom>
          <a:solidFill>
            <a:srgbClr val="FBF1E6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A2606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1. Inventário</a:t>
            </a:r>
          </a:p>
          <a:p>
            <a:pPr algn="ctr">
              <a:lnSpc>
                <a:spcPts val="3080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5A2606"/>
                </a:solidFill>
                <a:latin typeface="Montserrat" pitchFamily="2" charset="0"/>
                <a:ea typeface="Arial"/>
                <a:cs typeface="Arial"/>
                <a:sym typeface="Arial"/>
              </a:rPr>
              <a:t>engenharia reversa do legado</a:t>
            </a:r>
          </a:p>
        </p:txBody>
      </p:sp>
      <p:cxnSp>
        <p:nvCxnSpPr>
          <p:cNvPr id="205" name="Seta"/>
          <p:cNvCxnSpPr/>
          <p:nvPr/>
        </p:nvCxnSpPr>
        <p:spPr>
          <a:xfrm>
            <a:off x="5778000" y="35157600"/>
            <a:ext cx="0" cy="324000"/>
          </a:xfrm>
          <a:prstGeom prst="straightConnector1">
            <a:avLst/>
          </a:prstGeom>
          <a:ln w="50800">
            <a:solidFill>
              <a:srgbClr val="813709"/>
            </a:solidFill>
            <a:tailEnd type="triangle" w="med" len="med"/>
          </a:ln>
        </p:spPr>
      </p:cxnSp>
      <p:sp>
        <p:nvSpPr>
          <p:cNvPr id="206" name="Etapa 2"/>
          <p:cNvSpPr/>
          <p:nvPr/>
        </p:nvSpPr>
        <p:spPr>
          <a:xfrm>
            <a:off x="1224000" y="35517600"/>
            <a:ext cx="9108000" cy="1296000"/>
          </a:xfrm>
          <a:prstGeom prst="roundRect">
            <a:avLst>
              <a:gd name="adj" fmla="val 12000"/>
            </a:avLst>
          </a:prstGeom>
          <a:solidFill>
            <a:srgbClr val="FBF1E6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A2606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2. Refatoração</a:t>
            </a:r>
          </a:p>
          <a:p>
            <a:pPr algn="ctr">
              <a:lnSpc>
                <a:spcPts val="3080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5A2606"/>
                </a:solidFill>
                <a:latin typeface="Montserrat" pitchFamily="2" charset="0"/>
                <a:ea typeface="Arial"/>
                <a:cs typeface="Arial"/>
                <a:sym typeface="Arial"/>
              </a:rPr>
              <a:t>componentes reutilizáveis (FOWLER, 2004)</a:t>
            </a:r>
          </a:p>
        </p:txBody>
      </p:sp>
      <p:cxnSp>
        <p:nvCxnSpPr>
          <p:cNvPr id="207" name="Seta"/>
          <p:cNvCxnSpPr/>
          <p:nvPr/>
        </p:nvCxnSpPr>
        <p:spPr>
          <a:xfrm>
            <a:off x="5778000" y="36849599"/>
            <a:ext cx="0" cy="324000"/>
          </a:xfrm>
          <a:prstGeom prst="straightConnector1">
            <a:avLst/>
          </a:prstGeom>
          <a:ln w="50800">
            <a:solidFill>
              <a:srgbClr val="813709"/>
            </a:solidFill>
            <a:tailEnd type="triangle" w="med" len="med"/>
          </a:ln>
        </p:spPr>
      </p:cxnSp>
      <p:sp>
        <p:nvSpPr>
          <p:cNvPr id="208" name="Etapa 3"/>
          <p:cNvSpPr/>
          <p:nvPr/>
        </p:nvSpPr>
        <p:spPr>
          <a:xfrm>
            <a:off x="1224000" y="37209599"/>
            <a:ext cx="9108000" cy="1296000"/>
          </a:xfrm>
          <a:prstGeom prst="roundRect">
            <a:avLst>
              <a:gd name="adj" fmla="val 12000"/>
            </a:avLst>
          </a:prstGeom>
          <a:solidFill>
            <a:srgbClr val="FBF1E6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A2606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3. Rotas</a:t>
            </a:r>
          </a:p>
          <a:p>
            <a:pPr algn="ctr">
              <a:lnSpc>
                <a:spcPts val="3080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5A2606"/>
                </a:solidFill>
                <a:latin typeface="Montserrat" pitchFamily="2" charset="0"/>
                <a:ea typeface="Arial"/>
                <a:cs typeface="Arial"/>
                <a:sym typeface="Arial"/>
              </a:rPr>
              <a:t>App Router do Next.js</a:t>
            </a:r>
          </a:p>
        </p:txBody>
      </p:sp>
      <p:cxnSp>
        <p:nvCxnSpPr>
          <p:cNvPr id="209" name="Seta"/>
          <p:cNvCxnSpPr/>
          <p:nvPr/>
        </p:nvCxnSpPr>
        <p:spPr>
          <a:xfrm>
            <a:off x="5778000" y="38541599"/>
            <a:ext cx="0" cy="324000"/>
          </a:xfrm>
          <a:prstGeom prst="straightConnector1">
            <a:avLst/>
          </a:prstGeom>
          <a:ln w="50800">
            <a:solidFill>
              <a:srgbClr val="813709"/>
            </a:solidFill>
            <a:tailEnd type="triangle" w="med" len="med"/>
          </a:ln>
        </p:spPr>
      </p:cxnSp>
      <p:sp>
        <p:nvSpPr>
          <p:cNvPr id="210" name="Etapa 4"/>
          <p:cNvSpPr/>
          <p:nvPr/>
        </p:nvSpPr>
        <p:spPr>
          <a:xfrm>
            <a:off x="1224000" y="38901599"/>
            <a:ext cx="9108000" cy="1296000"/>
          </a:xfrm>
          <a:prstGeom prst="roundRect">
            <a:avLst>
              <a:gd name="adj" fmla="val 12000"/>
            </a:avLst>
          </a:prstGeom>
          <a:solidFill>
            <a:srgbClr val="FBF1E6"/>
          </a:solidFill>
          <a:ln>
            <a:noFill/>
          </a:ln>
        </p:spPr>
        <p:txBody>
          <a:bodyPr wrap="square" lIns="108000" tIns="72000" rIns="108000" bIns="72000" anchor="ctr">
            <a:noAutofit/>
          </a:bodyPr>
          <a:lstStyle/>
          <a:p>
            <a:pPr algn="ctr">
              <a:lnSpc>
                <a:spcPts val="352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A2606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4. Identidade visual</a:t>
            </a:r>
          </a:p>
          <a:p>
            <a:pPr algn="ctr">
              <a:lnSpc>
                <a:spcPts val="3080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5A2606"/>
                </a:solidFill>
                <a:latin typeface="Montserrat" pitchFamily="2" charset="0"/>
                <a:ea typeface="Arial"/>
                <a:cs typeface="Arial"/>
                <a:sym typeface="Arial"/>
              </a:rPr>
              <a:t>padronização da interface</a:t>
            </a:r>
          </a:p>
        </p:txBody>
      </p:sp>
      <p:sp>
        <p:nvSpPr>
          <p:cNvPr id="211" name="Tecnologias"/>
          <p:cNvSpPr txBox="1"/>
          <p:nvPr/>
        </p:nvSpPr>
        <p:spPr>
          <a:xfrm>
            <a:off x="11664000" y="11376000"/>
            <a:ext cx="9108000" cy="59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Tecnologias: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React com TypeScript, Next.js, Tailwind CSS e Firebase (Authentication e Cloud Firestore), com publicação na Vercel e integração contínua via GitHub.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Validação: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testes funcionais de caixa-preta (rotas, links, downloads, autenticação e persistência do progresso) e de responsividade de 360 a 1920 px no Chrome e no Firefox.</a:t>
            </a:r>
          </a:p>
        </p:txBody>
      </p:sp>
      <p:sp>
        <p:nvSpPr>
          <p:cNvPr id="212" name="Resultados"/>
          <p:cNvSpPr txBox="1"/>
          <p:nvPr/>
        </p:nvSpPr>
        <p:spPr>
          <a:xfrm>
            <a:off x="11664000" y="19771199"/>
            <a:ext cx="9108000" cy="3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Trechos antes duplicados em vários arquivos HTML viraram componentes reutilizáveis; layout, lógica e dados foram separados; e as rotas passaram a refletir a hierarquia das atividades de PC.</a:t>
            </a:r>
          </a:p>
        </p:txBody>
      </p:sp>
      <p:sp>
        <p:nvSpPr>
          <p:cNvPr id="213" name="Legenda tabela"/>
          <p:cNvSpPr txBox="1"/>
          <p:nvPr/>
        </p:nvSpPr>
        <p:spPr>
          <a:xfrm>
            <a:off x="11664000" y="23371199"/>
            <a:ext cx="9108000" cy="124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Tabela 1 – Comparativo arquitetural entre o sistema legado e a nova plataforma</a:t>
            </a:r>
          </a:p>
        </p:txBody>
      </p:sp>
      <p:graphicFrame>
        <p:nvGraphicFramePr>
          <p:cNvPr id="214" name="Table 213"/>
          <p:cNvGraphicFramePr>
            <a:graphicFrameLocks noGrp="1"/>
          </p:cNvGraphicFramePr>
          <p:nvPr/>
        </p:nvGraphicFramePr>
        <p:xfrm>
          <a:off x="11664000" y="24688799"/>
          <a:ext cx="9108000" cy="6552000"/>
        </p:xfrm>
        <a:graphic>
          <a:graphicData uri="http://schemas.openxmlformats.org/drawingml/2006/table">
            <a:tbl>
              <a:tblPr firstRow="1" bandRow="1"/>
              <a:tblGrid>
                <a:gridCol w="2628000"/>
                <a:gridCol w="3240000"/>
                <a:gridCol w="3240000"/>
              </a:tblGrid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Montserrat"/>
                        </a:rPr>
                        <a:t>Aspecto</a:t>
                      </a:r>
                    </a:p>
                  </a:txBody>
                  <a:tcPr marL="90000" marR="90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Montserrat"/>
                        </a:rPr>
                        <a:t>Legado</a:t>
                      </a:r>
                    </a:p>
                  </a:txBody>
                  <a:tcPr marL="90000" marR="90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Montserrat"/>
                        </a:rPr>
                        <a:t>Nova</a:t>
                      </a:r>
                    </a:p>
                  </a:txBody>
                  <a:tcPr marL="90000" marR="90000" marT="54000" marB="54000" anchor="ctr">
                    <a:solidFill>
                      <a:srgbClr val="813709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Arquitetura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Páginas HTML estáticas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SPA com componentes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Linguagem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JavaScript Vanilla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TypeScript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Estilo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CSS global extenso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Tailwind CSS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Rotas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Recarga a cada clique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Next.js App Router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Dados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Inexistente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Cloud Firestore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Login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Inexistente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Firebase Auth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4" name="Fonte"/>
          <p:cNvSpPr txBox="1"/>
          <p:nvPr/>
        </p:nvSpPr>
        <p:spPr>
          <a:xfrm>
            <a:off x="11664000" y="31312799"/>
            <a:ext cx="9108000" cy="4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sp>
        <p:nvSpPr>
          <p:cNvPr id="215" name="Legenda tabela"/>
          <p:cNvSpPr txBox="1"/>
          <p:nvPr/>
        </p:nvSpPr>
        <p:spPr>
          <a:xfrm>
            <a:off x="11664000" y="32140799"/>
            <a:ext cx="9108000" cy="84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Tabela 2 – Funcionalidades associadas aos pilares do PC</a:t>
            </a: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11664000" y="33055199"/>
          <a:ext cx="9108000" cy="6120000"/>
        </p:xfrm>
        <a:graphic>
          <a:graphicData uri="http://schemas.openxmlformats.org/drawingml/2006/table">
            <a:tbl>
              <a:tblPr firstRow="1" bandRow="1"/>
              <a:tblGrid>
                <a:gridCol w="3168000"/>
                <a:gridCol w="5940000"/>
              </a:tblGrid>
              <a:tr h="1224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Montserrat"/>
                        </a:rPr>
                        <a:t>Pilar do PC</a:t>
                      </a:r>
                    </a:p>
                  </a:txBody>
                  <a:tcPr marL="90000" marR="90000" marT="54000" marB="54000" anchor="ctr">
                    <a:solidFill>
                      <a:srgbClr val="8137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FFFFFF"/>
                          </a:solidFill>
                          <a:latin typeface="Montserrat"/>
                        </a:rPr>
                        <a:t>Na plataforma</a:t>
                      </a:r>
                    </a:p>
                  </a:txBody>
                  <a:tcPr marL="90000" marR="90000" marT="54000" marB="54000" anchor="ctr">
                    <a:solidFill>
                      <a:srgbClr val="813709"/>
                    </a:solidFill>
                  </a:tcPr>
                </a:tc>
              </a:tr>
              <a:tr h="1224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Decomposição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Desafios em etapas, com progresso registrado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</a:tr>
              <a:tr h="1224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Padrões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Sequências e regularidades em dados e ações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</a:tr>
              <a:tr h="1224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Abstração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Seleção das variáveis relevantes</a:t>
                      </a:r>
                    </a:p>
                  </a:txBody>
                  <a:tcPr marL="90000" marR="90000" marT="54000" marB="54000" anchor="ctr">
                    <a:solidFill>
                      <a:srgbClr val="FBF1E6"/>
                    </a:solidFill>
                  </a:tcPr>
                </a:tc>
              </a:tr>
              <a:tr h="1224000">
                <a:tc>
                  <a:txBody>
                    <a:bodyPr wrap="square"/>
                    <a:lstStyle/>
                    <a:p>
                      <a:pPr algn="l"/>
                      <a:r>
                        <a:rPr sz="2800" b="1">
                          <a:solidFill>
                            <a:srgbClr val="000000"/>
                          </a:solidFill>
                          <a:latin typeface="Montserrat"/>
                        </a:rPr>
                        <a:t>Algoritmos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800" b="0">
                          <a:solidFill>
                            <a:srgbClr val="000000"/>
                          </a:solidFill>
                          <a:latin typeface="Montserrat"/>
                        </a:rPr>
                        <a:t>Lógica e robótica simulada, com validação automática</a:t>
                      </a:r>
                    </a:p>
                  </a:txBody>
                  <a:tcPr marL="90000" marR="90000" marT="54000" marB="5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" name="Fonte"/>
          <p:cNvSpPr txBox="1"/>
          <p:nvPr/>
        </p:nvSpPr>
        <p:spPr>
          <a:xfrm>
            <a:off x="11664000" y="39247200"/>
            <a:ext cx="9108000" cy="4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sp>
        <p:nvSpPr>
          <p:cNvPr id="217" name="Limitacoes"/>
          <p:cNvSpPr txBox="1"/>
          <p:nvPr/>
        </p:nvSpPr>
        <p:spPr>
          <a:xfrm>
            <a:off x="22104000" y="11376000"/>
            <a:ext cx="9108000" cy="23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Limitações: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ausência de testes automatizados, de testes de usabilidade em sala de aula e de funcionamento offline.</a:t>
            </a:r>
          </a:p>
        </p:txBody>
      </p:sp>
      <p:sp>
        <p:nvSpPr>
          <p:cNvPr id="218" name="Conclusoes"/>
          <p:cNvSpPr txBox="1"/>
          <p:nvPr/>
        </p:nvSpPr>
        <p:spPr>
          <a:xfrm>
            <a:off x="22104000" y="16135200"/>
            <a:ext cx="9108000" cy="39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 reengenharia ampliou a manutenibilidade, a escalabilidade e a experiência do usuário, preservando os conteúdos pedagógicos. Trabalhos futuros: testes automatizados, validação com estudantes e arquitetura offline-first.</a:t>
            </a:r>
          </a:p>
        </p:txBody>
      </p:sp>
      <p:sp>
        <p:nvSpPr>
          <p:cNvPr id="219" name="Agradecimentos"/>
          <p:cNvSpPr txBox="1"/>
          <p:nvPr/>
        </p:nvSpPr>
        <p:spPr>
          <a:xfrm>
            <a:off x="22104000" y="22514400"/>
            <a:ext cx="9108000" cy="158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Ao IFBA – Campus Feira de Santana, pelo apoio institucional.</a:t>
            </a:r>
          </a:p>
        </p:txBody>
      </p:sp>
      <p:pic>
        <p:nvPicPr>
          <p:cNvPr id="220" name="Picture 219" descr="qr_p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04000" y="24314399"/>
            <a:ext cx="2880000" cy="2880000"/>
          </a:xfrm>
          <a:prstGeom prst="rect">
            <a:avLst/>
          </a:prstGeom>
        </p:spPr>
      </p:pic>
      <p:sp>
        <p:nvSpPr>
          <p:cNvPr id="220" name="Link"/>
          <p:cNvSpPr txBox="1"/>
          <p:nvPr/>
        </p:nvSpPr>
        <p:spPr>
          <a:xfrm>
            <a:off x="25272000" y="24314399"/>
            <a:ext cx="5940000" cy="28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ts val="3571"/>
              </a:lnSpc>
              <a:spcAft>
                <a:spcPts val="200"/>
              </a:spcAft>
              <a:buNone/>
            </a:pPr>
            <a:r>
              <a:rPr lang="pt-BR" sz="32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Versão reestruturada:</a:t>
            </a:r>
          </a:p>
          <a:p>
            <a:pPr algn="l">
              <a:lnSpc>
                <a:spcPts val="3571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mapear-main.vercel.app</a:t>
            </a:r>
          </a:p>
        </p:txBody>
      </p:sp>
      <p:sp>
        <p:nvSpPr>
          <p:cNvPr id="221" name="Referencias"/>
          <p:cNvSpPr txBox="1"/>
          <p:nvPr/>
        </p:nvSpPr>
        <p:spPr>
          <a:xfrm>
            <a:off x="22104000" y="29613599"/>
            <a:ext cx="9108000" cy="12578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BRACKMANN, C. P.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Desenvolvimento do pensamento computacional através de atividades desplugadas na educação básica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Tese (Doutorado) – UFRGS, Porto Alegre, 2017.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BRASIL. Ministério da Educação.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Competências gerais da computação na educação básica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Brasília: MEC, 2022.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COMELLA-DORDA, S. et al.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 survey of legacy system modernization approaches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Pittsburgh: SEI/CMU, 2000.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FOWLER, M.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Refatoração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Porto Alegre: Bookman, 2004.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GIL, A. C.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Como elaborar projetos de pesquisa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4. ed. São Paulo: Atlas, 2002.</a:t>
            </a:r>
          </a:p>
          <a:p>
            <a:pPr algn="l">
              <a:lnSpc>
                <a:spcPts val="3740"/>
              </a:lnSpc>
              <a:spcAft>
                <a:spcPts val="400"/>
              </a:spcAft>
              <a:buNone/>
            </a:pP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WING, J. M. Computational thinking. </a:t>
            </a:r>
            <a:r>
              <a:rPr lang="pt-BR" sz="3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Communications of the ACM</a:t>
            </a:r>
            <a:r>
              <a:rPr lang="pt-BR" sz="34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, v. 49, n. 3, p. 33-35,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422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Montserrat</vt:lpstr>
      <vt:lpstr>Arial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conhecimento/Subárea (Preencher com base no item 5 do regulamento): ODS vinculado(s) (Preencher o código do ODS, com base no item 6 do regulamento):</dc:title>
  <cp:lastModifiedBy>Elianderson Lima</cp:lastModifiedBy>
  <cp:revision>4</cp:revision>
  <dcterms:created xsi:type="dcterms:W3CDTF">2006-08-16T00:00:00Z</dcterms:created>
  <dcterms:modified xsi:type="dcterms:W3CDTF">2026-10-09T14:28:49Z</dcterms:modified>
  <dc:identifier>DAHWsWWrIA4</dc:identifier>
</cp:coreProperties>
</file>