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991288e-20c6-c0e8-7aad-b373f67cae9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Tema do evento" id="{9896fc89-4a7c-2ab2-a71f-0f50502090c1}">
          <p14:sldIdLst>
            <p14:sldId id="264"/>
          </p14:sldIdLst>
        </p14:section>
        <p14:section name="Fechamento" id="{983af97b-f2a6-592d-7099-4dea156cc137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30 s
O QUE FALAR:
• "Bom dia/Boa tarde! Eu sou Matheus Felipe, estudante do Bacharelado em Sistemas de Informação do IFBA, Campus Feira de Santana."
• "Vou apresentar o trabalho 'Desenvolvimento de uma Ferramenta Web para Compilação e Execução de Portugol Modernizado', orientado pela professora Ana Carolina Sokolonski, com bolsa PIBIC do CNPq."
• Já antecipe o foco: "Neste ciclo, o foco foi levar o compilador, que já existia na web, para os celulares — Android e iOS."
DICA: confirme na programação do Even3 o tempo exato da sua sessão e ajuste o 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Aprender lógica de programação exige prática contínua, e o primeiro contato costuma ser difícil.
• Muitas ferramentas pedem instalação e configuração — uma barreira extra para quem está começando.
• Essas dificuldades nos primeiros semestres estão associadas à reprovação e à evasão nos cursos de TI.
• Ponte: "Usar a língua materna e uma ferramenta simples, acessível de qualquer dispositivo, pode reduzir essas barreiras."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Leia a pergunta de pesquisa com calma.
• Explique as três relevâncias: a literatura mostra boa aceitação de ferramentas simples em português (VisuAlg); a versão móvel leva a ferramenta a quem só tem celular; e o IFBA ganha um recurso para as disciplinas iniciais.
OBS.: a pergunta foi redigida a partir do relatório final — ajuste-a ao resumo submetido ao SICTI, se for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45 s
O QUE FALAR:
• Leia o objetivo geral.
• Explique que a versão web do compilador já havia sido desenvolvida pela orientadora antes do projeto; por isso, o esforço do bolsista foi direcionado aos aplicativos móveis (Android e iOS) — o que atende ao objetivo de um recurso acessível em diferentes dispositivos.
DICA: a banca pode perguntar por que o título diz "Ferramenta Web" e o resultado é um app. Resposta: houve alteração justificada no plano de trabalho, registrada no relatório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Três bases: (1) o problema da evasão nas disciplinas de programação; (2) o sucesso de ferramentas em português, como o VisuAlg; (3) a Computação na BNCC, que amplia o público que precisa aprender lógica.
• Feche: "O Portugol Modernizado se apoia nessas três ideias."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 30 s
O QUE FALAR:
• Etapa 1: estudo da literatura e dos fundamentos de compiladores.
• Etapa 2: a partir do compilador web já existente, definimos o que levar para o celular.
• Etapa 3: desenvolvimento em ciclos curtos — levantar requisitos, prototipar, implementar e testar — priorizando uma interface simples para iniciantes e preservando a sintaxe modernizada.
• Etapa 4: Flutter/Dart permitiu gerar Android e iOS com um só código; a biblioteca CodeForge forneceu o editor de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2 min 30 s (parte mais importante)
O QUE FALAR:
• "O principal resultado foi o desenvolvimento dos aplicativos do Portugol Modernizado para Android e iOS."
• Mostre os prints: editor de código, execução de um programa e mensagem de erro/retorno ao usuário.
• Destaque que, com Flutter, uma única base de código atende às duas plataformas.
• Seja transparente: o app está em fase de testes e validação; a publicação nas lojas é a próxima etapa.
DICA: se possível, faça uma demonstração rápida ao vivo (30 s) ou leve um vídeo curto como plano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Interprete: o objetivo de acessibilidade foi atendido ao levar a ferramenta para o celular.
• Ligue com a literatura: ferramentas simples, em português, favorecem iniciantes.
• Apresente as limitações com naturalidade — isso antecipa perguntas da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30–45 s (OPCIONAL — revise ou exclua)
O QUE FALAR:
• O tema do evento é "CIÊNCIA DELAS em Territórios Ancestrais Afroindígenas".
• Faça uma ligação breve e honesta: acesso gratuito e em língua materna é uma forma de democratizar a ciência e a tecnologia no território.
DICA: não force a conexão com os saberes afroindígenas; o trabalho não trata diretamente desse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 min
O QUE FALAR:
• Responda à pergunta de pesquisa: "Ampliamos o acesso ao Portugol Modernizado ao levá-lo para Android e iOS."
• Cite o aprendizado técnico e científico.
• Próximos passos: publicação, integração web–móvel e avaliação com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necessário apresentar este slide oralmente — deixe-o disponível caso a banca queira consultar.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SUGERIDO: 15 s + perguntas
O QUE FALAR:
• Agradeça ao CNPq, ao IFBA e à orientadora. "Fico à disposição para perguntas."
PERGUNTAS PROVÁVEIS:
• Por que o título fala em ferramenta web e o resultado é um app? (alteração justificada no plano: a versão web já existia)
• Por que Flutter? (uma base de código para Android e iOS)
• Quando o app estará nas lojas? (após testes e cumprimento dos requisitos de cada plataforma)
• Como pretendem avaliar o impacto pedagógico? (avaliações de uso com estudantes)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image-1002-5.png"/><Relationship Id="rId6" Type="http://schemas.openxmlformats.org/officeDocument/2006/relationships/image" Target="../media/image-1002-6.png"/><Relationship Id="rId7" Type="http://schemas.openxmlformats.org/officeDocument/2006/relationships/image" Target="../media/image-1002-7.png"/><Relationship Id="rId8" Type="http://schemas.openxmlformats.org/officeDocument/2006/relationships/image" Target="../media/image-1002-8.png"/><Relationship Id="rId9" Type="http://schemas.openxmlformats.org/officeDocument/2006/relationships/image" Target="../media/image-1002-9.png"/><Relationship Id="rId10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image" Target="../media/image-1003-4.png"/><Relationship Id="rId5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image" Target="../media/image-1004-3.png"/><Relationship Id="rId4" Type="http://schemas.openxmlformats.org/officeDocument/2006/relationships/image" Target="../media/image-1004-4.png"/><Relationship Id="rId5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image" Target="../media/image-1005-3.png"/><Relationship Id="rId4" Type="http://schemas.openxmlformats.org/officeDocument/2006/relationships/image" Target="../media/image-1005-4.png"/><Relationship Id="rId5" Type="http://schemas.openxmlformats.org/officeDocument/2006/relationships/image" Target="../media/image-1005-5.png"/><Relationship Id="rId6" Type="http://schemas.openxmlformats.org/officeDocument/2006/relationships/image" Target="../media/image-1005-6.png"/><Relationship Id="rId7" Type="http://schemas.openxmlformats.org/officeDocument/2006/relationships/image" Target="../media/image-1005-7.png"/><Relationship Id="rId8" Type="http://schemas.openxmlformats.org/officeDocument/2006/relationships/image" Target="../media/image-1005-8.png"/><Relationship Id="rId9" Type="http://schemas.openxmlformats.org/officeDocument/2006/relationships/image" Target="../media/image-1005-9.png"/><Relationship Id="rId1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le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14500" cy="1714500"/>
          </a:xfrm>
          <a:prstGeom prst="rect">
            <a:avLst/>
          </a:prstGeom>
        </p:spPr>
      </p:pic>
      <p:pic>
        <p:nvPicPr>
          <p:cNvPr id="3" name="Image 1" descr="assets/tile_molec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0"/>
            <a:ext cx="1714500" cy="1714500"/>
          </a:xfrm>
          <a:prstGeom prst="rect">
            <a:avLst/>
          </a:prstGeom>
        </p:spPr>
      </p:pic>
      <p:pic>
        <p:nvPicPr>
          <p:cNvPr id="4" name="Image 2" descr="assets/tile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714500" cy="1714500"/>
          </a:xfrm>
          <a:prstGeom prst="rect">
            <a:avLst/>
          </a:prstGeom>
        </p:spPr>
      </p:pic>
      <p:pic>
        <p:nvPicPr>
          <p:cNvPr id="5" name="Image 3" descr="assets/tile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6" name="Image 4" descr="assets/tile_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195" y="0"/>
            <a:ext cx="1714500" cy="1714500"/>
          </a:xfrm>
          <a:prstGeom prst="rect">
            <a:avLst/>
          </a:prstGeom>
        </p:spPr>
      </p:pic>
      <p:pic>
        <p:nvPicPr>
          <p:cNvPr id="7" name="Image 5" descr="assets/tile_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195" y="1714500"/>
            <a:ext cx="1714500" cy="1714500"/>
          </a:xfrm>
          <a:prstGeom prst="rect">
            <a:avLst/>
          </a:prstGeom>
        </p:spPr>
      </p:pic>
      <p:pic>
        <p:nvPicPr>
          <p:cNvPr id="8" name="Image 6" descr="assets/tile_diamo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195" y="3429000"/>
            <a:ext cx="1714500" cy="1714500"/>
          </a:xfrm>
          <a:prstGeom prst="rect">
            <a:avLst/>
          </a:prstGeom>
        </p:spPr>
      </p:pic>
      <p:pic>
        <p:nvPicPr>
          <p:cNvPr id="9" name="Image 7" descr="assets/tile_cactu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195" y="5143500"/>
            <a:ext cx="1714500" cy="1714500"/>
          </a:xfrm>
          <a:prstGeom prst="rect">
            <a:avLst/>
          </a:prstGeom>
        </p:spPr>
      </p:pic>
      <p:pic>
        <p:nvPicPr>
          <p:cNvPr id="10" name="Image 8" descr="assets/emblem_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320040"/>
            <a:ext cx="1481328" cy="1124712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011680" y="155448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XXIII SEMINÁRIO DE INICIAÇÃO CIENTÍFICA, TECNOLÓGICA E INOVAÇÃO</a:t>
            </a:r>
            <a:endParaRPr lang="en-US" sz="1300" dirty="0"/>
          </a:p>
        </p:txBody>
      </p:sp>
      <p:sp>
        <p:nvSpPr>
          <p:cNvPr id="12" name="Text 1"/>
          <p:cNvSpPr/>
          <p:nvPr>
            <p:ph idx="110" type="title" hasCustomPrompt="1"/>
          </p:nvPr>
        </p:nvSpPr>
        <p:spPr>
          <a:xfrm>
            <a:off x="2011680" y="2011680"/>
            <a:ext cx="8165592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Título do trabalho</a:t>
            </a:r>
            <a:endParaRPr lang="en-US" sz="2800" dirty="0"/>
          </a:p>
        </p:txBody>
      </p:sp>
      <p:sp>
        <p:nvSpPr>
          <p:cNvPr id="13" name="Text 1"/>
          <p:cNvSpPr/>
          <p:nvPr>
            <p:ph idx="111" type="body" hasCustomPrompt="1"/>
          </p:nvPr>
        </p:nvSpPr>
        <p:spPr>
          <a:xfrm>
            <a:off x="2011680" y="3520440"/>
            <a:ext cx="816559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Autoras/es</a:t>
            </a:r>
            <a:endParaRPr lang="en-US" sz="1600" dirty="0"/>
          </a:p>
        </p:txBody>
      </p:sp>
      <p:sp>
        <p:nvSpPr>
          <p:cNvPr id="14" name="Text 1"/>
          <p:cNvSpPr/>
          <p:nvPr/>
        </p:nvSpPr>
        <p:spPr>
          <a:xfrm>
            <a:off x="3127248" y="4709160"/>
            <a:ext cx="594360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CIÊNCIA DELAS em Territórios Ancestrais Afroindígenas</a:t>
            </a:r>
            <a:endParaRPr lang="en-US" sz="1600" dirty="0"/>
          </a:p>
        </p:txBody>
      </p:sp>
      <p:sp>
        <p:nvSpPr>
          <p:cNvPr id="15" name="Text 2"/>
          <p:cNvSpPr/>
          <p:nvPr/>
        </p:nvSpPr>
        <p:spPr>
          <a:xfrm>
            <a:off x="2011680" y="55321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CAMPUS SALVADOR   •   03 a 06 de NOVEMBRO de 2026   •   VII CPPGI – IFBA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le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502920"/>
            <a:ext cx="384048" cy="384048"/>
          </a:xfrm>
          <a:prstGeom prst="rect">
            <a:avLst/>
          </a:prstGeom>
        </p:spPr>
      </p:pic>
      <p:pic>
        <p:nvPicPr>
          <p:cNvPr id="3" name="Image 1" descr="assets/tile_molec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502920"/>
            <a:ext cx="384048" cy="384048"/>
          </a:xfrm>
          <a:prstGeom prst="rect">
            <a:avLst/>
          </a:prstGeom>
        </p:spPr>
      </p:pic>
      <p:pic>
        <p:nvPicPr>
          <p:cNvPr id="4" name="Image 2" descr="assets/tile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502920"/>
            <a:ext cx="384048" cy="384048"/>
          </a:xfrm>
          <a:prstGeom prst="rect">
            <a:avLst/>
          </a:prstGeom>
        </p:spPr>
      </p:pic>
      <p:pic>
        <p:nvPicPr>
          <p:cNvPr id="5" name="Image 3" descr="assets/tile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544" y="502920"/>
            <a:ext cx="384048" cy="384048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Título do slide</a:t>
            </a:r>
            <a:endParaRPr lang="en-US" sz="3200" dirty="0"/>
          </a:p>
        </p:txBody>
      </p:sp>
      <p:sp>
        <p:nvSpPr>
          <p:cNvPr id="7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XXIII SICTI  ·  VII CPPGI  ·  IFBA  ·  Campus Salvador  ·  03 a 06/11/2026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le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8735" y="548640"/>
            <a:ext cx="822960" cy="822960"/>
          </a:xfrm>
          <a:prstGeom prst="rect">
            <a:avLst/>
          </a:prstGeom>
        </p:spPr>
      </p:pic>
      <p:pic>
        <p:nvPicPr>
          <p:cNvPr id="3" name="Image 1" descr="assets/tile_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1371600"/>
            <a:ext cx="822960" cy="822960"/>
          </a:xfrm>
          <a:prstGeom prst="rect">
            <a:avLst/>
          </a:prstGeom>
        </p:spPr>
      </p:pic>
      <p:pic>
        <p:nvPicPr>
          <p:cNvPr id="4" name="Image 2" descr="assets/tile_diamo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2194560"/>
            <a:ext cx="822960" cy="822960"/>
          </a:xfrm>
          <a:prstGeom prst="rect">
            <a:avLst/>
          </a:prstGeom>
        </p:spPr>
      </p:pic>
      <p:pic>
        <p:nvPicPr>
          <p:cNvPr id="5" name="Image 3" descr="assets/tile_cact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735" y="3017520"/>
            <a:ext cx="822960" cy="82296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4" type="title" hasCustomPrompt="1"/>
          </p:nvPr>
        </p:nvSpPr>
        <p:spPr>
          <a:xfrm>
            <a:off x="548640" y="365760"/>
            <a:ext cx="99669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Título do slide</a:t>
            </a:r>
            <a:endParaRPr lang="en-US" sz="3200" dirty="0"/>
          </a:p>
        </p:txBody>
      </p:sp>
      <p:sp>
        <p:nvSpPr>
          <p:cNvPr id="7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XXIII SICTI  ·  VII CPPGI  ·  IFBA  ·  Campus Salvador  ·  03 a 06/11/2026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le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14500" cy="1714500"/>
          </a:xfrm>
          <a:prstGeom prst="rect">
            <a:avLst/>
          </a:prstGeom>
        </p:spPr>
      </p:pic>
      <p:pic>
        <p:nvPicPr>
          <p:cNvPr id="3" name="Image 1" descr="assets/tile_molec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0"/>
            <a:ext cx="1714500" cy="1714500"/>
          </a:xfrm>
          <a:prstGeom prst="rect">
            <a:avLst/>
          </a:prstGeom>
        </p:spPr>
      </p:pic>
      <p:pic>
        <p:nvPicPr>
          <p:cNvPr id="4" name="Image 2" descr="assets/tile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714500" cy="1714500"/>
          </a:xfrm>
          <a:prstGeom prst="rect">
            <a:avLst/>
          </a:prstGeom>
        </p:spPr>
      </p:pic>
      <p:pic>
        <p:nvPicPr>
          <p:cNvPr id="5" name="Image 3" descr="assets/tile_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714500" cy="1714500"/>
          </a:xfrm>
          <a:prstGeom prst="rect">
            <a:avLst/>
          </a:prstGeom>
        </p:spPr>
      </p:pic>
      <p:pic>
        <p:nvPicPr>
          <p:cNvPr id="6" name="Image 4" descr="assets/tile_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195" y="0"/>
            <a:ext cx="1714500" cy="1714500"/>
          </a:xfrm>
          <a:prstGeom prst="rect">
            <a:avLst/>
          </a:prstGeom>
        </p:spPr>
      </p:pic>
      <p:pic>
        <p:nvPicPr>
          <p:cNvPr id="7" name="Image 5" descr="assets/tile_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195" y="1714500"/>
            <a:ext cx="1714500" cy="1714500"/>
          </a:xfrm>
          <a:prstGeom prst="rect">
            <a:avLst/>
          </a:prstGeom>
        </p:spPr>
      </p:pic>
      <p:pic>
        <p:nvPicPr>
          <p:cNvPr id="8" name="Image 6" descr="assets/tile_diamo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195" y="3429000"/>
            <a:ext cx="1714500" cy="1714500"/>
          </a:xfrm>
          <a:prstGeom prst="rect">
            <a:avLst/>
          </a:prstGeom>
        </p:spPr>
      </p:pic>
      <p:pic>
        <p:nvPicPr>
          <p:cNvPr id="9" name="Image 7" descr="assets/tile_cactu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195" y="5143500"/>
            <a:ext cx="1714500" cy="1714500"/>
          </a:xfrm>
          <a:prstGeom prst="rect">
            <a:avLst/>
          </a:prstGeom>
        </p:spPr>
      </p:pic>
      <p:sp>
        <p:nvSpPr>
          <p:cNvPr id="10" name="Shape 0"/>
          <p:cNvSpPr/>
          <p:nvPr/>
        </p:nvSpPr>
        <p:spPr>
          <a:xfrm>
            <a:off x="5376672" y="0"/>
            <a:ext cx="1426464" cy="160020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11" name="Image 8" descr="assets/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3832" y="91440"/>
            <a:ext cx="1152144" cy="1335024"/>
          </a:xfrm>
          <a:prstGeom prst="rect">
            <a:avLst/>
          </a:prstGeom>
        </p:spPr>
      </p:pic>
      <p:sp>
        <p:nvSpPr>
          <p:cNvPr id="12" name="Text 1"/>
          <p:cNvSpPr/>
          <p:nvPr>
            <p:ph idx="110" type="title" hasCustomPrompt="1"/>
          </p:nvPr>
        </p:nvSpPr>
        <p:spPr>
          <a:xfrm>
            <a:off x="2011680" y="1828800"/>
            <a:ext cx="816559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Obrigada!</a:t>
            </a:r>
            <a:endParaRPr lang="en-US" sz="4800" dirty="0"/>
          </a:p>
        </p:txBody>
      </p:sp>
      <p:sp>
        <p:nvSpPr>
          <p:cNvPr id="13" name="Text 1"/>
          <p:cNvSpPr/>
          <p:nvPr>
            <p:ph idx="111" type="body" hasCustomPrompt="1"/>
          </p:nvPr>
        </p:nvSpPr>
        <p:spPr>
          <a:xfrm>
            <a:off x="2011680" y="2926080"/>
            <a:ext cx="816559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Contato</a:t>
            </a:r>
            <a:endParaRPr lang="en-US" sz="1600" dirty="0"/>
          </a:p>
        </p:txBody>
      </p:sp>
      <p:sp>
        <p:nvSpPr>
          <p:cNvPr id="14" name="Text 1"/>
          <p:cNvSpPr/>
          <p:nvPr/>
        </p:nvSpPr>
        <p:spPr>
          <a:xfrm>
            <a:off x="3127248" y="4709160"/>
            <a:ext cx="594360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CIÊNCIA DELAS em Territórios Ancestrais Afroindígenas</a:t>
            </a:r>
            <a:endParaRPr lang="en-US" sz="1600" dirty="0"/>
          </a:p>
        </p:txBody>
      </p:sp>
      <p:sp>
        <p:nvSpPr>
          <p:cNvPr id="15" name="Text 2"/>
          <p:cNvSpPr/>
          <p:nvPr/>
        </p:nvSpPr>
        <p:spPr>
          <a:xfrm>
            <a:off x="2011680" y="5532120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XXIII SICTI  •  VII CPPGI – IFBA  •  2026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10" type="title" hasCustomPrompt="1"/>
          </p:nvPr>
        </p:nvSpPr>
        <p:spPr>
          <a:xfrm>
            <a:off x="2011680" y="2011680"/>
            <a:ext cx="81655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Desenvolvimento de uma Ferramenta Web para Compilação e Execução de Portugol Modernizado</a:t>
            </a:r>
            <a:endParaRPr lang="en-US" sz="2800" dirty="0"/>
          </a:p>
        </p:txBody>
      </p:sp>
      <p:sp>
        <p:nvSpPr>
          <p:cNvPr id="3" name="Text 1"/>
          <p:cNvSpPr/>
          <p:nvPr>
            <p:ph idx="111" type="body" hasCustomPrompt="1"/>
          </p:nvPr>
        </p:nvSpPr>
        <p:spPr>
          <a:xfrm>
            <a:off x="2011680" y="3520440"/>
            <a:ext cx="81655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Matheus Felipe de Oliveira Ferreira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Orientação: Profa. Ana Carolina Sokolonski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IFBA – Campus Feira de Santana  ·  Sistemas de Informação  ·  PIBIC – CNPq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Introdução e contexto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Tema: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ensino de lógica de programação com Portugol, uma linguagem algorítmica em português.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Contexto: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nos primeiros semestres dos cursos de TI, muitas ferramentas exigem instalar softwares e configurar ambientes antes do primeiro programa.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Por que importa: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essas barreiras desmotivam iniciantes; a dificuldade nas disciplinas de programação pode levar à reprovação e à evasão.</a:t>
            </a:r>
            <a:endParaRPr lang="en-US" sz="1700" dirty="0"/>
          </a:p>
        </p:txBody>
      </p:sp>
      <p:sp>
        <p:nvSpPr>
          <p:cNvPr id="4" name="area_imagem"/>
          <p:cNvSpPr/>
          <p:nvPr/>
        </p:nvSpPr>
        <p:spPr>
          <a:xfrm>
            <a:off x="6675120" y="1463040"/>
            <a:ext cx="4965192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pic>
        <p:nvPicPr>
          <p:cNvPr id="5" name="icone_leaf" descr="assets/tile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248" y="2743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49440" y="3566160"/>
            <a:ext cx="4416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Insira aqui um print do aplicativo do Portugol Modernizado rodando no celular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Problema e justificativa</a:t>
            </a:r>
            <a:endParaRPr lang="en-US" sz="3200" dirty="0"/>
          </a:p>
        </p:txBody>
      </p:sp>
      <p:sp>
        <p:nvSpPr>
          <p:cNvPr id="3" name="pergunta"/>
          <p:cNvSpPr/>
          <p:nvPr/>
        </p:nvSpPr>
        <p:spPr>
          <a:xfrm>
            <a:off x="548640" y="1463040"/>
            <a:ext cx="11091672" cy="1554480"/>
          </a:xfrm>
          <a:prstGeom prst="roundRect">
            <a:avLst>
              <a:gd name="adj" fmla="val 7059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PERGUNTA DE PESQUISA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Como ampliar o acesso a um ambiente gratuito de Portugol Modernizado, sem instalação e utilizável em diferentes dispositivos?</a:t>
            </a:r>
            <a:endParaRPr lang="en-US" sz="1600" dirty="0"/>
          </a:p>
        </p:txBody>
      </p:sp>
      <p:sp>
        <p:nvSpPr>
          <p:cNvPr id="5" name="card_just_1"/>
          <p:cNvSpPr/>
          <p:nvPr/>
        </p:nvSpPr>
        <p:spPr>
          <a:xfrm>
            <a:off x="548640" y="3383280"/>
            <a:ext cx="352044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pic>
        <p:nvPicPr>
          <p:cNvPr id="6" name="icone_brain" descr="assets/tile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6118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43434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Relevância científica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Ferramentas simplificadas em português, como o VisuAlg, têm alta aceitação entre iniciantes.</a:t>
            </a:r>
            <a:endParaRPr lang="en-US" sz="1400" dirty="0"/>
          </a:p>
        </p:txBody>
      </p:sp>
      <p:sp>
        <p:nvSpPr>
          <p:cNvPr id="8" name="card_just_2"/>
          <p:cNvSpPr/>
          <p:nvPr/>
        </p:nvSpPr>
        <p:spPr>
          <a:xfrm>
            <a:off x="4370832" y="3383280"/>
            <a:ext cx="352044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pic>
        <p:nvPicPr>
          <p:cNvPr id="9" name="icone_leaf" descr="assets/tile_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361188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45152" y="43434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Relevância social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Ferramenta gratuita, em língua materna e no celular: democratiza o acesso à computação.</a:t>
            </a:r>
            <a:endParaRPr lang="en-US" sz="1400" dirty="0"/>
          </a:p>
        </p:txBody>
      </p:sp>
      <p:sp>
        <p:nvSpPr>
          <p:cNvPr id="11" name="card_just_3"/>
          <p:cNvSpPr/>
          <p:nvPr/>
        </p:nvSpPr>
        <p:spPr>
          <a:xfrm>
            <a:off x="8193024" y="3383280"/>
            <a:ext cx="352044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pic>
        <p:nvPicPr>
          <p:cNvPr id="12" name="icone_molecule" descr="assets/tile_molecu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611880"/>
            <a:ext cx="594360" cy="594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67344" y="43434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Relevância para o IFBA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Apoia as disciplinas introdutórias de programação e o combate à evasão nos cursos de TI.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Objetivos</a:t>
            </a:r>
            <a:endParaRPr lang="en-US" sz="3200" dirty="0"/>
          </a:p>
        </p:txBody>
      </p:sp>
      <p:sp>
        <p:nvSpPr>
          <p:cNvPr id="3" name="objetivo_geral"/>
          <p:cNvSpPr/>
          <p:nvPr/>
        </p:nvSpPr>
        <p:spPr>
          <a:xfrm>
            <a:off x="548640" y="1463040"/>
            <a:ext cx="4480560" cy="4480560"/>
          </a:xfrm>
          <a:prstGeom prst="roundRect">
            <a:avLst>
              <a:gd name="adj" fmla="val 2449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3840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OBJETIVO GERAL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Desenvolver uma plataforma para execução de códigos em Portugol, proporcionando um ambiente acessível e interativo para o ensino de lógica de programação.</a:t>
            </a:r>
            <a:endParaRPr lang="en-US" sz="1600" dirty="0"/>
          </a:p>
        </p:txBody>
      </p:sp>
      <p:sp>
        <p:nvSpPr>
          <p:cNvPr id="5" name="num_1"/>
          <p:cNvSpPr/>
          <p:nvPr/>
        </p:nvSpPr>
        <p:spPr>
          <a:xfrm>
            <a:off x="5486400" y="1844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0" y="1844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463040"/>
            <a:ext cx="528523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Criar um ambiente funcional para a execução de códigos em Portugol.</a:t>
            </a:r>
            <a:endParaRPr lang="en-US" sz="1700" dirty="0"/>
          </a:p>
        </p:txBody>
      </p:sp>
      <p:sp>
        <p:nvSpPr>
          <p:cNvPr id="8" name="num_2"/>
          <p:cNvSpPr/>
          <p:nvPr/>
        </p:nvSpPr>
        <p:spPr>
          <a:xfrm>
            <a:off x="5486400" y="33375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956560"/>
            <a:ext cx="528523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Atualizar a sintaxe do Portugol para maior compatibilidade com linguagens modernas.</a:t>
            </a:r>
            <a:endParaRPr lang="en-US" sz="1700" dirty="0"/>
          </a:p>
        </p:txBody>
      </p:sp>
      <p:sp>
        <p:nvSpPr>
          <p:cNvPr id="11" name="num_3"/>
          <p:cNvSpPr/>
          <p:nvPr/>
        </p:nvSpPr>
        <p:spPr>
          <a:xfrm>
            <a:off x="5486400" y="48310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0" y="4831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450080"/>
            <a:ext cx="528523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Disponibilizar uma ferramenta interativa e didática para estudantes iniciantes de lógica de programação.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Fundamentação teórica</a:t>
            </a:r>
            <a:endParaRPr lang="en-US" sz="3200" dirty="0"/>
          </a:p>
        </p:txBody>
      </p:sp>
      <p:sp>
        <p:nvSpPr>
          <p:cNvPr id="3" name="card_conceito_1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pic>
        <p:nvPicPr>
          <p:cNvPr id="4" name="icone_triangle" descr="assets/tile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69748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Ensino de programação e evasão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 SILVA et al. (2015); SANTOS et al. (2015)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Dificuldades e desmotivação nas disciplinas iniciais estão ligadas à reprovação e à evasão.</a:t>
            </a:r>
            <a:endParaRPr lang="en-US" sz="1500" dirty="0"/>
          </a:p>
        </p:txBody>
      </p:sp>
      <p:sp>
        <p:nvSpPr>
          <p:cNvPr id="6" name="card_conceito_2"/>
          <p:cNvSpPr/>
          <p:nvPr/>
        </p:nvSpPr>
        <p:spPr>
          <a:xfrm>
            <a:off x="4370832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pic>
        <p:nvPicPr>
          <p:cNvPr id="7" name="icone_diamond" descr="assets/tile_diamo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783080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90872" y="269748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Ferramentas em língua materna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LEITE et al. (2013); BORBA (2019)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VisuAlg mostra que ambientes simples, em português, têm boa aceitação entre iniciantes.</a:t>
            </a:r>
            <a:endParaRPr lang="en-US" sz="1500" dirty="0"/>
          </a:p>
        </p:txBody>
      </p:sp>
      <p:sp>
        <p:nvSpPr>
          <p:cNvPr id="9" name="card_conceito_3"/>
          <p:cNvSpPr/>
          <p:nvPr/>
        </p:nvSpPr>
        <p:spPr>
          <a:xfrm>
            <a:off x="8193024" y="146304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pic>
        <p:nvPicPr>
          <p:cNvPr id="10" name="icone_cactus" descr="assets/tile_cact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78308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13064" y="269748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Computação na Educação Básica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BRASIL (2022); SBC (2019)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complemento de Computação à BNCC reforça a lógica de programação como competência a ser desenvolvida.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Metodologia</a:t>
            </a:r>
            <a:endParaRPr lang="en-US" sz="3200" dirty="0"/>
          </a:p>
        </p:txBody>
      </p:sp>
      <p:sp>
        <p:nvSpPr>
          <p:cNvPr id="3" name="etapa_1"/>
          <p:cNvSpPr/>
          <p:nvPr/>
        </p:nvSpPr>
        <p:spPr>
          <a:xfrm>
            <a:off x="1417320" y="14630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seta_1"/>
          <p:cNvSpPr/>
          <p:nvPr/>
        </p:nvSpPr>
        <p:spPr>
          <a:xfrm>
            <a:off x="2651760" y="1755648"/>
            <a:ext cx="548640" cy="329184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603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Levantamento bibliográfico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Ensino de lógica, compiladores, ferramentas similares (VisuAlg) e editores de código.</a:t>
            </a:r>
            <a:endParaRPr lang="en-US" sz="1400" dirty="0"/>
          </a:p>
        </p:txBody>
      </p:sp>
      <p:sp>
        <p:nvSpPr>
          <p:cNvPr id="7" name="etapa_2"/>
          <p:cNvSpPr/>
          <p:nvPr/>
        </p:nvSpPr>
        <p:spPr>
          <a:xfrm>
            <a:off x="4251960" y="14630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519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seta_2"/>
          <p:cNvSpPr/>
          <p:nvPr/>
        </p:nvSpPr>
        <p:spPr>
          <a:xfrm>
            <a:off x="5486400" y="1755648"/>
            <a:ext cx="548640" cy="329184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25603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Base: versão web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Compilador web do Portugol Modernizado, desenvolvido previamente pela orientadora.</a:t>
            </a:r>
            <a:endParaRPr lang="en-US" sz="1400" dirty="0"/>
          </a:p>
        </p:txBody>
      </p:sp>
      <p:sp>
        <p:nvSpPr>
          <p:cNvPr id="11" name="etapa_3"/>
          <p:cNvSpPr/>
          <p:nvPr/>
        </p:nvSpPr>
        <p:spPr>
          <a:xfrm>
            <a:off x="7086600" y="14630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8660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</a:t>
            </a:r>
            <a:endParaRPr lang="en-US" sz="3000" dirty="0"/>
          </a:p>
        </p:txBody>
      </p:sp>
      <p:sp>
        <p:nvSpPr>
          <p:cNvPr id="13" name="seta_3"/>
          <p:cNvSpPr/>
          <p:nvPr/>
        </p:nvSpPr>
        <p:spPr>
          <a:xfrm>
            <a:off x="8321040" y="1755648"/>
            <a:ext cx="548640" cy="329184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25603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Desenvolvimento iterativo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Ciclos de requisitos, prototipagem, implementação e testes; interface limpa e intuitiva.</a:t>
            </a:r>
            <a:endParaRPr lang="en-US" sz="1400" dirty="0"/>
          </a:p>
        </p:txBody>
      </p:sp>
      <p:sp>
        <p:nvSpPr>
          <p:cNvPr id="15" name="etapa_4"/>
          <p:cNvSpPr/>
          <p:nvPr/>
        </p:nvSpPr>
        <p:spPr>
          <a:xfrm>
            <a:off x="9921240" y="146304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212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56032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Tecnologias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Flutter (Dart) para Android e iOS com base de código única; editor com a biblioteca CodeForge.</a:t>
            </a:r>
            <a:endParaRPr lang="en-US" sz="1400" dirty="0"/>
          </a:p>
        </p:txBody>
      </p:sp>
      <p:sp>
        <p:nvSpPr>
          <p:cNvPr id="18" name="periodo_local"/>
          <p:cNvSpPr/>
          <p:nvPr/>
        </p:nvSpPr>
        <p:spPr>
          <a:xfrm>
            <a:off x="548640" y="480060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800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Natureza: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pesquisa aplicada, com produto tecnológico.  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Período: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set./2025 a ago./2026, IFBA Campus Feira de Santana.   </a:t>
            </a:r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Ética: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se aplica (sem pesquisa com seres humanos).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Resultados</a:t>
            </a:r>
            <a:endParaRPr lang="en-US" sz="3200" dirty="0"/>
          </a:p>
        </p:txBody>
      </p:sp>
      <p:sp>
        <p:nvSpPr>
          <p:cNvPr id="3" name="celular_Android"/>
          <p:cNvSpPr/>
          <p:nvPr/>
        </p:nvSpPr>
        <p:spPr>
          <a:xfrm>
            <a:off x="822960" y="1371600"/>
            <a:ext cx="2468880" cy="434340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/>
        </p:spPr>
      </p:sp>
      <p:sp>
        <p:nvSpPr>
          <p:cNvPr id="4" name="tela_Android"/>
          <p:cNvSpPr/>
          <p:nvPr/>
        </p:nvSpPr>
        <p:spPr>
          <a:xfrm>
            <a:off x="960120" y="1600200"/>
            <a:ext cx="2194560" cy="3886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Insira o print da tela no Android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760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Android</a:t>
            </a:r>
            <a:endParaRPr lang="en-US" sz="1400" dirty="0"/>
          </a:p>
        </p:txBody>
      </p:sp>
      <p:sp>
        <p:nvSpPr>
          <p:cNvPr id="7" name="celular_iOS"/>
          <p:cNvSpPr/>
          <p:nvPr/>
        </p:nvSpPr>
        <p:spPr>
          <a:xfrm>
            <a:off x="3840480" y="1371600"/>
            <a:ext cx="2468880" cy="434340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/>
        </p:spPr>
      </p:sp>
      <p:sp>
        <p:nvSpPr>
          <p:cNvPr id="8" name="tela_iOS"/>
          <p:cNvSpPr/>
          <p:nvPr/>
        </p:nvSpPr>
        <p:spPr>
          <a:xfrm>
            <a:off x="3977640" y="1600200"/>
            <a:ext cx="2194560" cy="3886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69080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Insira o print da tela no iOS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5760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iOS</a:t>
            </a:r>
            <a:endParaRPr lang="en-US" sz="1400" dirty="0"/>
          </a:p>
        </p:txBody>
      </p:sp>
      <p:sp>
        <p:nvSpPr>
          <p:cNvPr id="11" name="achado_1"/>
          <p:cNvSpPr/>
          <p:nvPr/>
        </p:nvSpPr>
        <p:spPr>
          <a:xfrm>
            <a:off x="6949440" y="1371600"/>
            <a:ext cx="46908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78040" y="13716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137160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aplicativos: Android e iOS, para compilar e executar Portugol Modernizado</a:t>
            </a:r>
            <a:endParaRPr lang="en-US" sz="1400" dirty="0"/>
          </a:p>
        </p:txBody>
      </p:sp>
      <p:sp>
        <p:nvSpPr>
          <p:cNvPr id="14" name="achado_2"/>
          <p:cNvSpPr/>
          <p:nvPr/>
        </p:nvSpPr>
        <p:spPr>
          <a:xfrm>
            <a:off x="6949440" y="2880360"/>
            <a:ext cx="46908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8040" y="288036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88036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 de código compartilhada (Flutter), preservando a sintaxe modernizada</a:t>
            </a:r>
            <a:endParaRPr lang="en-US" sz="1400" dirty="0"/>
          </a:p>
        </p:txBody>
      </p:sp>
      <p:sp>
        <p:nvSpPr>
          <p:cNvPr id="17" name="achado_3"/>
          <p:cNvSpPr/>
          <p:nvPr/>
        </p:nvSpPr>
        <p:spPr>
          <a:xfrm>
            <a:off x="6949440" y="4389120"/>
            <a:ext cx="4690872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438912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Em testes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438912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validação e ajustes antes da publicação nas lojas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Discussão</a:t>
            </a:r>
            <a:endParaRPr lang="en-US" sz="3200" dirty="0"/>
          </a:p>
        </p:txBody>
      </p:sp>
      <p:sp>
        <p:nvSpPr>
          <p:cNvPr id="3" name="card_disc_1"/>
          <p:cNvSpPr/>
          <p:nvPr/>
        </p:nvSpPr>
        <p:spPr>
          <a:xfrm>
            <a:off x="548640" y="1463040"/>
            <a:ext cx="540410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pic>
        <p:nvPicPr>
          <p:cNvPr id="4" name="icone_brain" descr="assets/tile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691640"/>
            <a:ext cx="4023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O que os resultados mostram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ferramenta passa a funcionar também em smartphones e tablets, ampliando o acesso de iniciantes sem exigir instalação de ambiente no computador.</a:t>
            </a:r>
            <a:endParaRPr lang="en-US" sz="1500" dirty="0"/>
          </a:p>
        </p:txBody>
      </p:sp>
      <p:sp>
        <p:nvSpPr>
          <p:cNvPr id="6" name="card_disc_2"/>
          <p:cNvSpPr/>
          <p:nvPr/>
        </p:nvSpPr>
        <p:spPr>
          <a:xfrm>
            <a:off x="6236208" y="1463040"/>
            <a:ext cx="5404104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pic>
        <p:nvPicPr>
          <p:cNvPr id="7" name="icone_molecule" descr="assets/tile_molec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37360"/>
            <a:ext cx="640080" cy="640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79208" y="1691640"/>
            <a:ext cx="4023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Diálogo com a literatura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Reforça a proposta de ambientes simples e em português (VisuAlg) e a necessidade de prática contínua — agora possível no celular.</a:t>
            </a:r>
            <a:endParaRPr lang="en-US" sz="1500" dirty="0"/>
          </a:p>
        </p:txBody>
      </p:sp>
      <p:sp>
        <p:nvSpPr>
          <p:cNvPr id="9" name="limitacoes"/>
          <p:cNvSpPr/>
          <p:nvPr/>
        </p:nvSpPr>
        <p:spPr>
          <a:xfrm>
            <a:off x="548640" y="4206240"/>
            <a:ext cx="11091672" cy="1783080"/>
          </a:xfrm>
          <a:prstGeom prst="roundRect">
            <a:avLst>
              <a:gd name="adj" fmla="val 6154"/>
            </a:avLst>
          </a:prstGeom>
          <a:solidFill>
            <a:schemeClr val="accent5"/>
          </a:solidFill>
          <a:ln/>
        </p:spPr>
      </p:sp>
      <p:pic>
        <p:nvPicPr>
          <p:cNvPr id="10" name="icone_sun" descr="assets/tile_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262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83080" y="4343400"/>
            <a:ext cx="9601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Limitações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Infraestrutura para testes no ecossistema iOS, requisitos de publicação nas lojas e ausência, até o momento, de avaliação de uso com estudantes.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Diálogo com o tema “Ciência Delas”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Como a pesquisa se conecta a “CIÊNCIA DELAS em Territórios Ancestrais Afroindígenas”</a:t>
            </a:r>
            <a:endParaRPr lang="en-US" sz="1500" dirty="0"/>
          </a:p>
        </p:txBody>
      </p:sp>
      <p:sp>
        <p:nvSpPr>
          <p:cNvPr id="4" name="card_tema_1"/>
          <p:cNvSpPr/>
          <p:nvPr/>
        </p:nvSpPr>
        <p:spPr>
          <a:xfrm>
            <a:off x="548640" y="1828800"/>
            <a:ext cx="3200400" cy="41148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</p:spPr>
      </p:sp>
      <p:sp>
        <p:nvSpPr>
          <p:cNvPr id="5" name="marca_tema_1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880360"/>
            <a:ext cx="2560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Protagonismo das mulheres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Pesquisa orientada por uma mulher na Computação, área em que a presença feminina ainda é minoritária.</a:t>
            </a:r>
            <a:endParaRPr lang="en-US" sz="1500" dirty="0"/>
          </a:p>
        </p:txBody>
      </p:sp>
      <p:sp>
        <p:nvSpPr>
          <p:cNvPr id="7" name="card_tema_2"/>
          <p:cNvSpPr/>
          <p:nvPr/>
        </p:nvSpPr>
        <p:spPr>
          <a:xfrm>
            <a:off x="3977640" y="1828800"/>
            <a:ext cx="3200400" cy="41148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</p:spPr>
      </p:sp>
      <p:sp>
        <p:nvSpPr>
          <p:cNvPr id="8" name="marca_tema_2"/>
          <p:cNvSpPr/>
          <p:nvPr/>
        </p:nvSpPr>
        <p:spPr>
          <a:xfrm>
            <a:off x="4297680" y="21488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2880360"/>
            <a:ext cx="2560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Inclusão digital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Ferramenta gratuita, em português e no celular: reduz barreiras de acesso à programação.</a:t>
            </a:r>
            <a:endParaRPr lang="en-US" sz="1500" dirty="0"/>
          </a:p>
        </p:txBody>
      </p:sp>
      <p:sp>
        <p:nvSpPr>
          <p:cNvPr id="10" name="card_tema_3"/>
          <p:cNvSpPr/>
          <p:nvPr/>
        </p:nvSpPr>
        <p:spPr>
          <a:xfrm>
            <a:off x="7406640" y="1828800"/>
            <a:ext cx="3200400" cy="41148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</p:spPr>
      </p:sp>
      <p:sp>
        <p:nvSpPr>
          <p:cNvPr id="11" name="marca_tema_3"/>
          <p:cNvSpPr/>
          <p:nvPr/>
        </p:nvSpPr>
        <p:spPr>
          <a:xfrm>
            <a:off x="7726680" y="21488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26680" y="2880360"/>
            <a:ext cx="2560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Impacto no território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Estudantes do interior da Bahia podem praticar lógica de programação com o dispositivo que já possuem.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Considerações finais</a:t>
            </a:r>
            <a:endParaRPr lang="en-US" sz="3200" dirty="0"/>
          </a:p>
        </p:txBody>
      </p:sp>
      <p:sp>
        <p:nvSpPr>
          <p:cNvPr id="3" name="check_1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Acesso ampliado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Portugol Modernizado ganhou versões móveis, derivadas da versão web.</a:t>
            </a:r>
            <a:endParaRPr lang="en-US" sz="1500" dirty="0"/>
          </a:p>
        </p:txBody>
      </p:sp>
      <p:sp>
        <p:nvSpPr>
          <p:cNvPr id="6" name="check_2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9260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Democratização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Contribui para a inclusão digital e para o ensino de lógica de programação.</a:t>
            </a:r>
            <a:endParaRPr lang="en-US" sz="1500" dirty="0"/>
          </a:p>
        </p:txBody>
      </p:sp>
      <p:sp>
        <p:nvSpPr>
          <p:cNvPr id="9" name="check_3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38912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Formação do bolsista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Aprendizado em compiladores, desenvolvimento móvel e boas práticas.</a:t>
            </a:r>
            <a:endParaRPr lang="en-US" sz="1500" dirty="0"/>
          </a:p>
        </p:txBody>
      </p:sp>
      <p:sp>
        <p:nvSpPr>
          <p:cNvPr id="12" name="proximos_passos"/>
          <p:cNvSpPr/>
          <p:nvPr/>
        </p:nvSpPr>
        <p:spPr>
          <a:xfrm>
            <a:off x="6675120" y="1463040"/>
            <a:ext cx="4965192" cy="4480560"/>
          </a:xfrm>
          <a:prstGeom prst="roundRect">
            <a:avLst>
              <a:gd name="adj" fmla="val 2449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95160" y="1737360"/>
            <a:ext cx="4343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PRÓXIMOS PASSOS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chemeClr val="accent5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Concluir os testes e publicar nas lojas de aplicativos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Integrar as versões web e móvel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Aprimorar continuamente a interface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Avaliar o uso com estudantes para medir o impacto pedagógico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title" hasCustomPrompt="1"/>
          </p:nvPr>
        </p:nvSpPr>
        <p:spPr>
          <a:xfrm>
            <a:off x="548640" y="3657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Referências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BORBA, F. H. O Software VisuAlg como recurso didático no ensino da lógica de programação. 2019.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BRASIL. Ministério da Educação. Computação – Complemento à Base Nacional Comum Curricular (BNCC). Brasília: MEC, 2022.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 SILVA, T. R. et al. Ensino-aprendizagem de programação: uma revisão sistemática da literatura. Revista Brasileira de Informática na Educação, v. 23, n. 1, p. 182, 2015.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FORBELLONE, A. L. V. Lógica de programação: a construção de algoritmos e estruturas de dados. São Paulo: Prentice Hall, 2005.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LEITE, V. M. et al. VisuAlg: estudo de caso e análise de compilador destinado ao ensino de programação. Nuevas Ideas en Informática Educativa TISE, v. 9, p. 637-640, 2013.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SANTOS, A. et al. A importância do fator motivacional no processo ensino-aprendizagem de algoritmos e lógica de programação para alunos repetentes. In: Workshop sobre Educação em Computação (WEI). SBC, 2015. p. 168-177.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SBC. Diretrizes para ensino de Computação na Educação Básica. Sociedade Brasileira de Computação, 2019.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10" type="title" hasCustomPrompt="1"/>
          </p:nvPr>
        </p:nvSpPr>
        <p:spPr>
          <a:xfrm>
            <a:off x="2011680" y="1828800"/>
            <a:ext cx="8165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Obrigado!</a:t>
            </a:r>
            <a:endParaRPr lang="en-US" sz="4800" dirty="0"/>
          </a:p>
        </p:txBody>
      </p:sp>
      <p:sp>
        <p:nvSpPr>
          <p:cNvPr id="3" name="Text 1"/>
          <p:cNvSpPr/>
          <p:nvPr>
            <p:ph idx="111" type="body" hasCustomPrompt="1"/>
          </p:nvPr>
        </p:nvSpPr>
        <p:spPr>
          <a:xfrm>
            <a:off x="2011680" y="2926080"/>
            <a:ext cx="81655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Matheus Felipe de Oliveira Ferreira  ·  theusf40@gmail.com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Orientação: Profa. Ana Carolina Sokolonski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Apoio: CNPq – PIBIC  ·  IFBA – Campus Feira de Santana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PGI SICTI 2026">
  <a:themeElements>
    <a:clrScheme name="CPPGI SICTI 2026">
      <a:dk1>
        <a:srgbClr val="1F2937"/>
      </a:dk1>
      <a:lt1>
        <a:srgbClr val="FFFFFF"/>
      </a:lt1>
      <a:dk2>
        <a:srgbClr val="1C446F"/>
      </a:dk2>
      <a:lt2>
        <a:srgbClr val="F2F4F7"/>
      </a:lt2>
      <a:accent1>
        <a:srgbClr val="E63A3B"/>
      </a:accent1>
      <a:accent2>
        <a:srgbClr val="FFB337"/>
      </a:accent2>
      <a:accent3>
        <a:srgbClr val="0376B9"/>
      </a:accent3>
      <a:accent4>
        <a:srgbClr val="0C843C"/>
      </a:accent4>
      <a:accent5>
        <a:srgbClr val="1C446F"/>
      </a:accent5>
      <a:accent6>
        <a:srgbClr val="6B7280"/>
      </a:accent6>
      <a:hlink>
        <a:srgbClr val="0376B9"/>
      </a:hlink>
      <a:folHlink>
        <a:srgbClr val="1C446F"/>
      </a:folHlink>
    </a:clrScheme>
    <a:fontScheme name="CPPGI SICTI 202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SICTI 2026 — Portugol Modernizado (Matheus Felipe)</dc:title>
  <dc:subject>PptxGenJS Presentation</dc:subject>
  <dc:creator>Ana Carolina Sokolonski Anton</dc:creator>
  <cp:lastModifiedBy>Ana Carolina Sokolonski Anton</cp:lastModifiedBy>
  <cp:revision>1</cp:revision>
  <dcterms:created xsi:type="dcterms:W3CDTF">2026-10-20T13:05:50Z</dcterms:created>
  <dcterms:modified xsi:type="dcterms:W3CDTF">2026-10-20T13:05:50Z</dcterms:modified>
</cp:coreProperties>
</file>