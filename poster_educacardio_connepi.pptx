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32397700" cy="43192700"/>
  <p:notesSz cx="6858000" cy="9144000"/>
  <p:embeddedFontLst>
    <p:embeddedFont>
      <p:font typeface="Montserrat" pitchFamily="2" charset="0"/>
      <p:regular r:id="rId3"/>
      <p:bold r:id="rId4"/>
      <p:italic r:id="rId5"/>
      <p:boldItalic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500" y="-40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font" Target="fonts/font4.fntdata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hyperlink" Target="mailto:xxxx@email.com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jpe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399288" cy="4589459"/>
            <a:chOff x="0" y="0"/>
            <a:chExt cx="43199050" cy="6119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199050" cy="6119241"/>
            </a:xfrm>
            <a:custGeom>
              <a:avLst/>
              <a:gdLst/>
              <a:ahLst/>
              <a:cxnLst/>
              <a:rect l="l" t="t" r="r" b="b"/>
              <a:pathLst>
                <a:path w="43199050" h="6119241">
                  <a:moveTo>
                    <a:pt x="0" y="0"/>
                  </a:moveTo>
                  <a:lnTo>
                    <a:pt x="43199050" y="0"/>
                  </a:lnTo>
                  <a:lnTo>
                    <a:pt x="43199050" y="6119241"/>
                  </a:lnTo>
                  <a:lnTo>
                    <a:pt x="0" y="6119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68"/>
              </a:stretch>
            </a:blipFill>
          </p:spPr>
          <p:txBody>
            <a:bodyPr/>
            <a:lstStyle/>
            <a:p>
              <a:endParaRPr lang="pt-BR">
                <a:latin typeface="Montserrat" pitchFamily="2" charset="0"/>
              </a:endParaRPr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80000" y="5400000"/>
            <a:ext cx="30240000" cy="237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00"/>
              </a:lnSpc>
              <a:spcAft>
                <a:spcPts val="0"/>
              </a:spcAft>
              <a:buNone/>
            </a:pPr>
            <a:r>
              <a:rPr lang="pt-BR" sz="8000" b="1" dirty="0">
                <a:solidFill>
                  <a:srgbClr val="813709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EDUCACARDIO+: UMA APLICAÇÃO MHEALTH PARA O AUTOCUIDADO DE PESSOAS COM DOENÇAS CRÔNICAS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0000" y="8208000"/>
            <a:ext cx="30240000" cy="216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10"/>
              </a:lnSpc>
              <a:spcAft>
                <a:spcPts val="0"/>
              </a:spcAft>
              <a:buNone/>
            </a:pPr>
            <a:r>
              <a:rPr lang="pt-BR" sz="44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Wendel Muniz dos Santos (IFBA); Ana Carolina Sokolonski (IFBA)</a:t>
            </a:r>
          </a:p>
          <a:p>
            <a:pPr algn="ctr">
              <a:lnSpc>
                <a:spcPts val="4500"/>
              </a:lnSpc>
              <a:spcAft>
                <a:spcPts val="0"/>
              </a:spcAft>
              <a:buNone/>
            </a:pPr>
            <a:r>
              <a:rPr lang="pt-BR" sz="40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Autor correspondente: carolsoko@ifba.edu.br</a:t>
            </a:r>
          </a:p>
          <a:p>
            <a:pPr algn="ctr">
              <a:lnSpc>
                <a:spcPts val="4500"/>
              </a:lnSpc>
              <a:spcAft>
                <a:spcPts val="0"/>
              </a:spcAft>
              <a:buNone/>
            </a:pPr>
            <a:r>
              <a:rPr lang="pt-BR" sz="40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Instituição: Instituto Federal da Bahia (IFBA) – Campus Feira de Santana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4569738" y="1257300"/>
            <a:ext cx="6448425" cy="1862138"/>
            <a:chOff x="0" y="0"/>
            <a:chExt cx="8597900" cy="24828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597900" cy="2482850"/>
            </a:xfrm>
            <a:custGeom>
              <a:avLst/>
              <a:gdLst/>
              <a:ahLst/>
              <a:cxnLst/>
              <a:rect l="l" t="t" r="r" b="b"/>
              <a:pathLst>
                <a:path w="8597900" h="2482850">
                  <a:moveTo>
                    <a:pt x="0" y="0"/>
                  </a:moveTo>
                  <a:lnTo>
                    <a:pt x="8597900" y="0"/>
                  </a:lnTo>
                  <a:lnTo>
                    <a:pt x="8597900" y="2482850"/>
                  </a:lnTo>
                  <a:lnTo>
                    <a:pt x="0" y="248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1"/>
              </a:stretch>
            </a:blipFill>
          </p:spPr>
          <p:txBody>
            <a:bodyPr/>
            <a:lstStyle/>
            <a:p>
              <a:endParaRPr lang="pt-BR">
                <a:latin typeface="Montserrat" pitchFamily="2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24000" y="11376000"/>
            <a:ext cx="9097347" cy="1805970"/>
            <a:chOff x="0" y="0"/>
            <a:chExt cx="48752948" cy="96782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752947" cy="9678188"/>
            </a:xfrm>
            <a:custGeom>
              <a:avLst/>
              <a:gdLst/>
              <a:ahLst/>
              <a:cxnLst/>
              <a:rect l="l" t="t" r="r" b="b"/>
              <a:pathLst>
                <a:path w="48752947" h="9678188">
                  <a:moveTo>
                    <a:pt x="0" y="0"/>
                  </a:moveTo>
                  <a:lnTo>
                    <a:pt x="48752947" y="0"/>
                  </a:lnTo>
                  <a:lnTo>
                    <a:pt x="48752947" y="9678188"/>
                  </a:lnTo>
                  <a:lnTo>
                    <a:pt x="0" y="9678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071" r="-20166"/>
              </a:stretch>
            </a:blipFill>
          </p:spPr>
          <p:txBody>
            <a:bodyPr/>
            <a:lstStyle/>
            <a:p>
              <a:endParaRPr lang="pt-BR">
                <a:latin typeface="Montserrat" pitchFamily="2" charset="0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75999" y="11376000"/>
            <a:ext cx="8640000" cy="1807199"/>
          </a:xfrm>
          <a:prstGeom prst="rect">
            <a:avLst/>
          </a:prstGeom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ts val="6026"/>
              </a:lnSpc>
              <a:spcAft>
                <a:spcPts val="0"/>
              </a:spcAft>
              <a:buNone/>
            </a:pPr>
            <a:r>
              <a:rPr lang="pt-BR" sz="5400" b="1" dirty="0">
                <a:solidFill>
                  <a:srgbClr val="813709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ÁREA TEMÁTICA E ODS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664000" y="27854908"/>
            <a:ext cx="9097347" cy="1805970"/>
            <a:chOff x="0" y="0"/>
            <a:chExt cx="48752948" cy="967824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752947" cy="9678188"/>
            </a:xfrm>
            <a:custGeom>
              <a:avLst/>
              <a:gdLst/>
              <a:ahLst/>
              <a:cxnLst/>
              <a:rect l="l" t="t" r="r" b="b"/>
              <a:pathLst>
                <a:path w="48752947" h="9678188">
                  <a:moveTo>
                    <a:pt x="0" y="0"/>
                  </a:moveTo>
                  <a:lnTo>
                    <a:pt x="48752947" y="0"/>
                  </a:lnTo>
                  <a:lnTo>
                    <a:pt x="48752947" y="9678188"/>
                  </a:lnTo>
                  <a:lnTo>
                    <a:pt x="0" y="9678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071" r="-20166"/>
              </a:stretch>
            </a:blipFill>
          </p:spPr>
          <p:txBody>
            <a:bodyPr/>
            <a:lstStyle/>
            <a:p>
              <a:endParaRPr lang="pt-BR">
                <a:latin typeface="Montserrat" pitchFamily="2" charset="0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916000" y="27854908"/>
            <a:ext cx="8640000" cy="1807199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algn="l">
              <a:lnSpc>
                <a:spcPts val="6026"/>
              </a:lnSpc>
              <a:spcAft>
                <a:spcPts val="0"/>
              </a:spcAft>
              <a:buNone/>
            </a:pPr>
            <a:r>
              <a:rPr lang="pt-BR" sz="5400" b="1" dirty="0">
                <a:solidFill>
                  <a:srgbClr val="813709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RESULTADOS E DISCUSSÃO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22104000" y="22334400"/>
            <a:ext cx="9097347" cy="1805970"/>
            <a:chOff x="0" y="0"/>
            <a:chExt cx="48752948" cy="967824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8752947" cy="9678188"/>
            </a:xfrm>
            <a:custGeom>
              <a:avLst/>
              <a:gdLst/>
              <a:ahLst/>
              <a:cxnLst/>
              <a:rect l="l" t="t" r="r" b="b"/>
              <a:pathLst>
                <a:path w="48752947" h="9678188">
                  <a:moveTo>
                    <a:pt x="0" y="0"/>
                  </a:moveTo>
                  <a:lnTo>
                    <a:pt x="48752947" y="0"/>
                  </a:lnTo>
                  <a:lnTo>
                    <a:pt x="48752947" y="9678188"/>
                  </a:lnTo>
                  <a:lnTo>
                    <a:pt x="0" y="9678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071" r="-20166"/>
              </a:stretch>
            </a:blipFill>
          </p:spPr>
          <p:txBody>
            <a:bodyPr/>
            <a:lstStyle/>
            <a:p>
              <a:endParaRPr lang="pt-BR">
                <a:latin typeface="Montserrat" pitchFamily="2" charset="0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2356000" y="22334400"/>
            <a:ext cx="8640000" cy="1807199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algn="l">
              <a:lnSpc>
                <a:spcPts val="6026"/>
              </a:lnSpc>
              <a:spcAft>
                <a:spcPts val="0"/>
              </a:spcAft>
              <a:buNone/>
            </a:pPr>
            <a:r>
              <a:rPr lang="pt-BR" sz="5400" b="1" dirty="0">
                <a:solidFill>
                  <a:srgbClr val="813709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CONCLUSÕES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-4762" y="42654541"/>
            <a:ext cx="32408812" cy="549278"/>
            <a:chOff x="0" y="0"/>
            <a:chExt cx="43211750" cy="73237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3211750" cy="732409"/>
            </a:xfrm>
            <a:custGeom>
              <a:avLst/>
              <a:gdLst/>
              <a:ahLst/>
              <a:cxnLst/>
              <a:rect l="l" t="t" r="r" b="b"/>
              <a:pathLst>
                <a:path w="43211750" h="732409">
                  <a:moveTo>
                    <a:pt x="0" y="0"/>
                  </a:moveTo>
                  <a:lnTo>
                    <a:pt x="43211750" y="0"/>
                  </a:lnTo>
                  <a:lnTo>
                    <a:pt x="43211750" y="732409"/>
                  </a:lnTo>
                  <a:lnTo>
                    <a:pt x="0" y="732409"/>
                  </a:lnTo>
                  <a:close/>
                </a:path>
              </a:pathLst>
            </a:custGeom>
            <a:solidFill>
              <a:srgbClr val="861141"/>
            </a:solidFill>
            <a:ln w="9525" cap="sq">
              <a:solidFill>
                <a:srgbClr val="50200C"/>
              </a:solidFill>
              <a:prstDash val="solid"/>
              <a:miter/>
            </a:ln>
          </p:spPr>
          <p:txBody>
            <a:bodyPr/>
            <a:lstStyle/>
            <a:p>
              <a:endParaRPr lang="pt-BR">
                <a:latin typeface="Montserrat" pitchFamily="2" charset="0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24000" y="16891200"/>
            <a:ext cx="9097347" cy="1805970"/>
            <a:chOff x="0" y="0"/>
            <a:chExt cx="48752948" cy="967824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8752947" cy="9678188"/>
            </a:xfrm>
            <a:custGeom>
              <a:avLst/>
              <a:gdLst/>
              <a:ahLst/>
              <a:cxnLst/>
              <a:rect l="l" t="t" r="r" b="b"/>
              <a:pathLst>
                <a:path w="48752947" h="9678188">
                  <a:moveTo>
                    <a:pt x="0" y="0"/>
                  </a:moveTo>
                  <a:lnTo>
                    <a:pt x="48752947" y="0"/>
                  </a:lnTo>
                  <a:lnTo>
                    <a:pt x="48752947" y="9678188"/>
                  </a:lnTo>
                  <a:lnTo>
                    <a:pt x="0" y="9678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071" r="-20166"/>
              </a:stretch>
            </a:blipFill>
          </p:spPr>
          <p:txBody>
            <a:bodyPr/>
            <a:lstStyle/>
            <a:p>
              <a:endParaRPr lang="pt-BR">
                <a:latin typeface="Montserrat" pitchFamily="2" charset="0"/>
              </a:endParaRP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475999" y="16891200"/>
            <a:ext cx="8640000" cy="1807199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algn="l">
              <a:lnSpc>
                <a:spcPts val="6026"/>
              </a:lnSpc>
              <a:spcAft>
                <a:spcPts val="0"/>
              </a:spcAft>
              <a:buNone/>
            </a:pPr>
            <a:r>
              <a:rPr lang="pt-BR" sz="5400" b="1" dirty="0">
                <a:solidFill>
                  <a:srgbClr val="813709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INTRODUÇÃO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224000" y="29210400"/>
            <a:ext cx="9097347" cy="1805970"/>
            <a:chOff x="0" y="0"/>
            <a:chExt cx="48752948" cy="967824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8752947" cy="9678188"/>
            </a:xfrm>
            <a:custGeom>
              <a:avLst/>
              <a:gdLst/>
              <a:ahLst/>
              <a:cxnLst/>
              <a:rect l="l" t="t" r="r" b="b"/>
              <a:pathLst>
                <a:path w="48752947" h="9678188">
                  <a:moveTo>
                    <a:pt x="0" y="0"/>
                  </a:moveTo>
                  <a:lnTo>
                    <a:pt x="48752947" y="0"/>
                  </a:lnTo>
                  <a:lnTo>
                    <a:pt x="48752947" y="9678188"/>
                  </a:lnTo>
                  <a:lnTo>
                    <a:pt x="0" y="9678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071" r="-20166"/>
              </a:stretch>
            </a:blipFill>
          </p:spPr>
          <p:txBody>
            <a:bodyPr/>
            <a:lstStyle/>
            <a:p>
              <a:endParaRPr lang="pt-BR">
                <a:latin typeface="Montserrat" pitchFamily="2" charset="0"/>
              </a:endParaRP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475999" y="29210400"/>
            <a:ext cx="8640000" cy="1807199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algn="l">
              <a:lnSpc>
                <a:spcPts val="6026"/>
              </a:lnSpc>
              <a:spcAft>
                <a:spcPts val="0"/>
              </a:spcAft>
              <a:buNone/>
            </a:pPr>
            <a:r>
              <a:rPr lang="pt-BR" sz="5400" b="1" dirty="0">
                <a:solidFill>
                  <a:srgbClr val="813709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MATERIAL E MÉTODOS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22104000" y="33076800"/>
            <a:ext cx="9097347" cy="1805970"/>
            <a:chOff x="0" y="0"/>
            <a:chExt cx="48752948" cy="967824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8752947" cy="9678188"/>
            </a:xfrm>
            <a:custGeom>
              <a:avLst/>
              <a:gdLst/>
              <a:ahLst/>
              <a:cxnLst/>
              <a:rect l="l" t="t" r="r" b="b"/>
              <a:pathLst>
                <a:path w="48752947" h="9678188">
                  <a:moveTo>
                    <a:pt x="0" y="0"/>
                  </a:moveTo>
                  <a:lnTo>
                    <a:pt x="48752947" y="0"/>
                  </a:lnTo>
                  <a:lnTo>
                    <a:pt x="48752947" y="9678188"/>
                  </a:lnTo>
                  <a:lnTo>
                    <a:pt x="0" y="9678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071" r="-20166"/>
              </a:stretch>
            </a:blipFill>
          </p:spPr>
          <p:txBody>
            <a:bodyPr/>
            <a:lstStyle/>
            <a:p>
              <a:endParaRPr lang="pt-BR">
                <a:latin typeface="Montserrat" pitchFamily="2" charset="0"/>
              </a:endParaRP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22356000" y="33076800"/>
            <a:ext cx="8640000" cy="1807199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algn="l">
              <a:lnSpc>
                <a:spcPts val="6026"/>
              </a:lnSpc>
              <a:spcAft>
                <a:spcPts val="0"/>
              </a:spcAft>
              <a:buNone/>
            </a:pPr>
            <a:r>
              <a:rPr lang="pt-BR" sz="5400" b="1" dirty="0">
                <a:solidFill>
                  <a:srgbClr val="813709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REFERÊNCIAS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22104000" y="29145600"/>
            <a:ext cx="9097347" cy="1805970"/>
            <a:chOff x="0" y="0"/>
            <a:chExt cx="48752948" cy="967824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8752947" cy="9678188"/>
            </a:xfrm>
            <a:custGeom>
              <a:avLst/>
              <a:gdLst/>
              <a:ahLst/>
              <a:cxnLst/>
              <a:rect l="l" t="t" r="r" b="b"/>
              <a:pathLst>
                <a:path w="48752947" h="9678188">
                  <a:moveTo>
                    <a:pt x="0" y="0"/>
                  </a:moveTo>
                  <a:lnTo>
                    <a:pt x="48752947" y="0"/>
                  </a:lnTo>
                  <a:lnTo>
                    <a:pt x="48752947" y="9678188"/>
                  </a:lnTo>
                  <a:lnTo>
                    <a:pt x="0" y="9678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071" r="-20166"/>
              </a:stretch>
            </a:blipFill>
          </p:spPr>
          <p:txBody>
            <a:bodyPr/>
            <a:lstStyle/>
            <a:p>
              <a:endParaRPr lang="pt-BR">
                <a:latin typeface="Montserrat" pitchFamily="2" charset="0"/>
              </a:endParaRP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22356000" y="29145600"/>
            <a:ext cx="8640000" cy="1807199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algn="l">
              <a:lnSpc>
                <a:spcPts val="6026"/>
              </a:lnSpc>
              <a:spcAft>
                <a:spcPts val="0"/>
              </a:spcAft>
              <a:buNone/>
            </a:pPr>
            <a:r>
              <a:rPr lang="pt-BR" sz="5400" b="1" dirty="0">
                <a:solidFill>
                  <a:srgbClr val="813709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AGRADECIMENTOS</a:t>
            </a:r>
          </a:p>
        </p:txBody>
      </p:sp>
      <p:sp>
        <p:nvSpPr>
          <p:cNvPr id="201" name="Area ODS"/>
          <p:cNvSpPr txBox="1"/>
          <p:nvPr/>
        </p:nvSpPr>
        <p:spPr>
          <a:xfrm>
            <a:off x="1224000" y="13507200"/>
            <a:ext cx="9108000" cy="309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017"/>
              </a:lnSpc>
              <a:spcAft>
                <a:spcPts val="500"/>
              </a:spcAft>
              <a:buNone/>
            </a:pPr>
            <a:r>
              <a:rPr lang="pt-BR" sz="36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 xml:space="preserve">Área/Subárea: </a:t>
            </a: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Área 01 – Ciências Exatas e da Terra / Ciência da Computação</a:t>
            </a:r>
          </a:p>
          <a:p>
            <a:pPr algn="l">
              <a:lnSpc>
                <a:spcPts val="4017"/>
              </a:lnSpc>
              <a:spcAft>
                <a:spcPts val="0"/>
              </a:spcAft>
              <a:buNone/>
            </a:pPr>
            <a:r>
              <a:rPr lang="pt-BR" sz="36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 xml:space="preserve">ODS: </a:t>
            </a: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ODS03 – Saúde e bem-estar</a:t>
            </a:r>
          </a:p>
        </p:txBody>
      </p:sp>
      <p:sp>
        <p:nvSpPr>
          <p:cNvPr id="202" name="Introducao"/>
          <p:cNvSpPr txBox="1"/>
          <p:nvPr/>
        </p:nvSpPr>
        <p:spPr>
          <a:xfrm>
            <a:off x="1224000" y="19022400"/>
            <a:ext cx="9108000" cy="9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017"/>
              </a:lnSpc>
              <a:spcAft>
                <a:spcPts val="800"/>
              </a:spcAft>
              <a:buNone/>
            </a:pP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As doenças cardiovasculares (DCVs) causam cerca de 19,8 milhões de óbitos por ano, 32% do total global (OMS, 2025). O diabetes mellitus (DM) atingiu 589 milhões de adultos em 2024, com projeção de 783 milhões até 2045 (IDF, 2024).</a:t>
            </a:r>
          </a:p>
          <a:p>
            <a:pPr algn="l">
              <a:lnSpc>
                <a:spcPts val="4017"/>
              </a:lnSpc>
              <a:spcAft>
                <a:spcPts val="800"/>
              </a:spcAft>
              <a:buNone/>
            </a:pP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Soluções de mHealth são promissoras, mas costumam fragmentar dados entre aplicativos, e centralizar informações não garante engajamento.</a:t>
            </a:r>
          </a:p>
          <a:p>
            <a:pPr algn="l">
              <a:lnSpc>
                <a:spcPts val="4017"/>
              </a:lnSpc>
              <a:spcAft>
                <a:spcPts val="0"/>
              </a:spcAft>
              <a:buNone/>
            </a:pPr>
            <a:r>
              <a:rPr lang="pt-BR" sz="36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 xml:space="preserve">Objetivo: </a:t>
            </a: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desenvolver e avaliar preliminarmente o EducaCardio+, aplicativo Android que integra educação em saúde, indicadores via Health Connect (ANDROID DEVELOPERS, 2025) e gamificação.</a:t>
            </a:r>
          </a:p>
        </p:txBody>
      </p:sp>
      <p:sp>
        <p:nvSpPr>
          <p:cNvPr id="203" name="Metodos"/>
          <p:cNvSpPr txBox="1"/>
          <p:nvPr/>
        </p:nvSpPr>
        <p:spPr>
          <a:xfrm>
            <a:off x="1224000" y="31341600"/>
            <a:ext cx="9108000" cy="10850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017"/>
              </a:lnSpc>
              <a:spcAft>
                <a:spcPts val="800"/>
              </a:spcAft>
              <a:buNone/>
            </a:pP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Pesquisa aplicada, exploratória e descritiva, com estudo de caso preliminar (YIN, 2014). Os requisitos vieram de diretrizes clínicas (SBD, ADA e OMS) e foram priorizados pela técnica MoSCoW.</a:t>
            </a:r>
          </a:p>
          <a:p>
            <a:pPr algn="l">
              <a:lnSpc>
                <a:spcPts val="4017"/>
              </a:lnSpc>
              <a:spcAft>
                <a:spcPts val="0"/>
              </a:spcAft>
              <a:buNone/>
            </a:pPr>
            <a:r>
              <a:rPr lang="pt-BR" sz="36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 xml:space="preserve">Arquitetura: </a:t>
            </a: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offline-first, com separação de responsabilidades; React Native + Expo e TypeScript, Firebase (Auth e Firestore) e Health Connect.</a:t>
            </a:r>
          </a:p>
        </p:txBody>
      </p:sp>
      <p:sp>
        <p:nvSpPr>
          <p:cNvPr id="204" name="Avaliacao"/>
          <p:cNvSpPr txBox="1"/>
          <p:nvPr/>
        </p:nvSpPr>
        <p:spPr>
          <a:xfrm>
            <a:off x="11664000" y="11376000"/>
            <a:ext cx="9108000" cy="309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017"/>
              </a:lnSpc>
              <a:spcAft>
                <a:spcPts val="0"/>
              </a:spcAft>
              <a:buNone/>
            </a:pPr>
            <a:r>
              <a:rPr lang="pt-BR" sz="36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 xml:space="preserve">Avaliação: </a:t>
            </a: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12 participantes, recrutados em teste fechado na Google Play, responderam a um questionário anônimo inspirado na MARS (STOYANOV et al., 2015).</a:t>
            </a:r>
          </a:p>
        </p:txBody>
      </p:sp>
      <p:pic>
        <p:nvPicPr>
          <p:cNvPr id="205" name="Picture 204" descr="ec_schem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17999" y="14616000"/>
            <a:ext cx="5400000" cy="6192161"/>
          </a:xfrm>
          <a:prstGeom prst="rect">
            <a:avLst/>
          </a:prstGeom>
        </p:spPr>
      </p:pic>
      <p:sp>
        <p:nvSpPr>
          <p:cNvPr id="205" name="Legenda"/>
          <p:cNvSpPr txBox="1"/>
          <p:nvPr/>
        </p:nvSpPr>
        <p:spPr>
          <a:xfrm>
            <a:off x="11664000" y="20916161"/>
            <a:ext cx="9108000" cy="878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3124"/>
              </a:lnSpc>
              <a:spcAft>
                <a:spcPts val="0"/>
              </a:spcAft>
              <a:buNone/>
            </a:pPr>
            <a:r>
              <a:rPr lang="pt-BR" sz="28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Figura 1 – Esquema NoSQL do Firestore</a:t>
            </a:r>
          </a:p>
          <a:p>
            <a:pPr algn="ctr">
              <a:lnSpc>
                <a:spcPts val="3124"/>
              </a:lnSpc>
              <a:spcAft>
                <a:spcPts val="0"/>
              </a:spcAft>
              <a:buNone/>
            </a:pPr>
            <a:r>
              <a:rPr lang="pt-BR" sz="28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Fonte: elaborado pelos autores, 2026.</a:t>
            </a:r>
          </a:p>
        </p:txBody>
      </p:sp>
      <p:pic>
        <p:nvPicPr>
          <p:cNvPr id="206" name="Picture 205" descr="ec_prot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64000" y="22082560"/>
            <a:ext cx="9108000" cy="4094748"/>
          </a:xfrm>
          <a:prstGeom prst="rect">
            <a:avLst/>
          </a:prstGeom>
        </p:spPr>
      </p:pic>
      <p:sp>
        <p:nvSpPr>
          <p:cNvPr id="206" name="Legenda"/>
          <p:cNvSpPr txBox="1"/>
          <p:nvPr/>
        </p:nvSpPr>
        <p:spPr>
          <a:xfrm>
            <a:off x="11664000" y="26285308"/>
            <a:ext cx="9108000" cy="1281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3124"/>
              </a:lnSpc>
              <a:spcAft>
                <a:spcPts val="0"/>
              </a:spcAft>
              <a:buNone/>
            </a:pPr>
            <a:r>
              <a:rPr lang="pt-BR" sz="28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Figura 2 – Protótipo de alta fidelidade das telas principais</a:t>
            </a:r>
          </a:p>
          <a:p>
            <a:pPr algn="ctr">
              <a:lnSpc>
                <a:spcPts val="3124"/>
              </a:lnSpc>
              <a:spcAft>
                <a:spcPts val="0"/>
              </a:spcAft>
              <a:buNone/>
            </a:pPr>
            <a:r>
              <a:rPr lang="pt-BR" sz="28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Fonte: elaborado pelos autores, 2026.</a:t>
            </a:r>
          </a:p>
        </p:txBody>
      </p:sp>
      <p:sp>
        <p:nvSpPr>
          <p:cNvPr id="207" name="Resultados"/>
          <p:cNvSpPr txBox="1"/>
          <p:nvPr/>
        </p:nvSpPr>
        <p:spPr>
          <a:xfrm>
            <a:off x="11664000" y="29986108"/>
            <a:ext cx="9108000" cy="237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017"/>
              </a:lnSpc>
              <a:spcAft>
                <a:spcPts val="300"/>
              </a:spcAft>
              <a:buNone/>
            </a:pP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O app foi publicado em teste fechado na Google Play, e a integração com o Health Connect foi aprovada pelo Google. Recursos:</a:t>
            </a:r>
          </a:p>
        </p:txBody>
      </p:sp>
      <p:sp>
        <p:nvSpPr>
          <p:cNvPr id="208" name="Recursos"/>
          <p:cNvSpPr txBox="1"/>
          <p:nvPr/>
        </p:nvSpPr>
        <p:spPr>
          <a:xfrm>
            <a:off x="11664000" y="32362108"/>
            <a:ext cx="9108000" cy="982989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marL="685800" indent="-685800">
              <a:lnSpc>
                <a:spcPts val="4017"/>
              </a:lnSpc>
              <a:spcAft>
                <a:spcPts val="150"/>
              </a:spcAft>
              <a:buClr>
                <a:srgbClr val="0E6B60"/>
              </a:buClr>
              <a:buFont typeface="Arial"/>
              <a:buChar char="•"/>
            </a:pP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login por e-mail ou Google;</a:t>
            </a:r>
          </a:p>
          <a:p>
            <a:pPr algn="l" marL="685800" indent="-685800">
              <a:lnSpc>
                <a:spcPts val="4017"/>
              </a:lnSpc>
              <a:spcAft>
                <a:spcPts val="150"/>
              </a:spcAft>
              <a:buClr>
                <a:srgbClr val="0E6B60"/>
              </a:buClr>
              <a:buFont typeface="Arial"/>
              <a:buChar char="•"/>
            </a:pP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módulos com textos, vídeos, quizzes e checklists;</a:t>
            </a:r>
          </a:p>
          <a:p>
            <a:pPr algn="l" marL="685800" indent="-685800">
              <a:lnSpc>
                <a:spcPts val="4017"/>
              </a:lnSpc>
              <a:spcAft>
                <a:spcPts val="150"/>
              </a:spcAft>
              <a:buClr>
                <a:srgbClr val="0E6B60"/>
              </a:buClr>
              <a:buFont typeface="Arial"/>
              <a:buChar char="•"/>
            </a:pP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registro manual e coleta de passos, FC e sono;</a:t>
            </a:r>
          </a:p>
          <a:p>
            <a:pPr algn="l" marL="685800" indent="-685800">
              <a:lnSpc>
                <a:spcPts val="4017"/>
              </a:lnSpc>
              <a:spcAft>
                <a:spcPts val="150"/>
              </a:spcAft>
              <a:buClr>
                <a:srgbClr val="0E6B60"/>
              </a:buClr>
              <a:buFont typeface="Arial"/>
              <a:buChar char="•"/>
            </a:pP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pontuação limitada por tópico;</a:t>
            </a:r>
          </a:p>
          <a:p>
            <a:pPr algn="l" marL="685800" indent="-685800">
              <a:lnSpc>
                <a:spcPts val="4017"/>
              </a:lnSpc>
              <a:spcAft>
                <a:spcPts val="0"/>
              </a:spcAft>
              <a:buClr>
                <a:srgbClr val="0E6B60"/>
              </a:buClr>
              <a:buFont typeface="Arial"/>
              <a:buChar char="•"/>
            </a:pP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lembretes offline e exclusão de conta (LGPD).</a:t>
            </a:r>
          </a:p>
        </p:txBody>
      </p:sp>
      <p:sp>
        <p:nvSpPr>
          <p:cNvPr id="209" name="Legenda tabela"/>
          <p:cNvSpPr txBox="1"/>
          <p:nvPr/>
        </p:nvSpPr>
        <p:spPr>
          <a:xfrm>
            <a:off x="22104000" y="11376000"/>
            <a:ext cx="9108000" cy="84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3124"/>
              </a:lnSpc>
              <a:spcAft>
                <a:spcPts val="0"/>
              </a:spcAft>
              <a:buNone/>
            </a:pPr>
            <a:r>
              <a:rPr lang="pt-BR" sz="28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Tabela 1 – Avaliações positivas (notas 4 ou 5) por dimensão (N = 12)</a:t>
            </a:r>
          </a:p>
        </p:txBody>
      </p:sp>
      <p:sp>
        <p:nvSpPr>
          <p:cNvPr id="210" name="Indicador 1"/>
          <p:cNvSpPr txBox="1"/>
          <p:nvPr/>
        </p:nvSpPr>
        <p:spPr>
          <a:xfrm>
            <a:off x="22104000" y="12290400"/>
            <a:ext cx="4410000" cy="3024000"/>
          </a:xfrm>
          <a:prstGeom prst="roundRect">
            <a:avLst/>
          </a:prstGeom>
          <a:solidFill>
            <a:srgbClr val="E6F2F0"/>
          </a:solidFill>
        </p:spPr>
        <p:txBody>
          <a:bodyPr wrap="square" lIns="360000" tIns="360000" rIns="360000" bIns="360000" rtlCol="0" anchor="ctr">
            <a:noAutofit/>
          </a:bodyPr>
          <a:lstStyle/>
          <a:p>
            <a:pPr algn="ctr">
              <a:lnSpc>
                <a:spcPts val="7000"/>
              </a:lnSpc>
              <a:spcAft>
                <a:spcPts val="0"/>
              </a:spcAft>
              <a:buNone/>
            </a:pPr>
            <a:r>
              <a:rPr lang="pt-BR" sz="6600" b="1" dirty="0">
                <a:solidFill>
                  <a:srgbClr val="0E6B6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91,7%</a:t>
            </a:r>
          </a:p>
          <a:p>
            <a:pPr algn="ctr">
              <a:lnSpc>
                <a:spcPts val="3300"/>
              </a:lnSpc>
              <a:spcAft>
                <a:spcPts val="0"/>
              </a:spcAft>
              <a:buNone/>
            </a:pPr>
            <a:r>
              <a:rPr lang="pt-BR" sz="3000" b="1" dirty="0">
                <a:solidFill>
                  <a:srgbClr val="1F2937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navegação</a:t>
            </a:r>
          </a:p>
          <a:p>
            <a:pPr algn="ctr">
              <a:lnSpc>
                <a:spcPts val="2900"/>
              </a:lnSpc>
              <a:spcAft>
                <a:spcPts val="0"/>
              </a:spcAft>
              <a:buNone/>
            </a:pPr>
            <a:r>
              <a:rPr lang="pt-BR" sz="2600" dirty="0">
                <a:solidFill>
                  <a:srgbClr val="1F2937"/>
                </a:solidFill>
                <a:latin typeface="Montserrat" pitchFamily="2" charset="0"/>
                <a:ea typeface="Arial"/>
                <a:cs typeface="Arial"/>
                <a:sym typeface="Arial"/>
              </a:rPr>
              <a:t>11/12 · média 4,3</a:t>
            </a:r>
          </a:p>
        </p:txBody>
      </p:sp>
      <p:sp>
        <p:nvSpPr>
          <p:cNvPr id="211" name="Indicador 2"/>
          <p:cNvSpPr txBox="1"/>
          <p:nvPr/>
        </p:nvSpPr>
        <p:spPr>
          <a:xfrm>
            <a:off x="26802000" y="12290400"/>
            <a:ext cx="4410000" cy="3024000"/>
          </a:xfrm>
          <a:prstGeom prst="roundRect">
            <a:avLst/>
          </a:prstGeom>
          <a:solidFill>
            <a:srgbClr val="E6F2F0"/>
          </a:solidFill>
        </p:spPr>
        <p:txBody>
          <a:bodyPr wrap="square" lIns="360000" tIns="360000" rIns="360000" bIns="360000" rtlCol="0" anchor="ctr">
            <a:noAutofit/>
          </a:bodyPr>
          <a:lstStyle/>
          <a:p>
            <a:pPr algn="ctr">
              <a:lnSpc>
                <a:spcPts val="7000"/>
              </a:lnSpc>
              <a:spcAft>
                <a:spcPts val="0"/>
              </a:spcAft>
              <a:buNone/>
            </a:pPr>
            <a:r>
              <a:rPr lang="pt-BR" sz="6600" b="1" dirty="0">
                <a:solidFill>
                  <a:srgbClr val="0E6B6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83,3%</a:t>
            </a:r>
          </a:p>
          <a:p>
            <a:pPr algn="ctr">
              <a:lnSpc>
                <a:spcPts val="3300"/>
              </a:lnSpc>
              <a:spcAft>
                <a:spcPts val="0"/>
              </a:spcAft>
              <a:buNone/>
            </a:pPr>
            <a:r>
              <a:rPr lang="pt-BR" sz="3000" b="1" dirty="0">
                <a:solidFill>
                  <a:srgbClr val="1F2937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conteúdo</a:t>
            </a:r>
          </a:p>
          <a:p>
            <a:pPr algn="ctr">
              <a:lnSpc>
                <a:spcPts val="2900"/>
              </a:lnSpc>
              <a:spcAft>
                <a:spcPts val="0"/>
              </a:spcAft>
              <a:buNone/>
            </a:pPr>
            <a:r>
              <a:rPr lang="pt-BR" sz="2600" dirty="0">
                <a:solidFill>
                  <a:srgbClr val="1F2937"/>
                </a:solidFill>
                <a:latin typeface="Montserrat" pitchFamily="2" charset="0"/>
                <a:ea typeface="Arial"/>
                <a:cs typeface="Arial"/>
                <a:sym typeface="Arial"/>
              </a:rPr>
              <a:t>10/12 · média 4,1</a:t>
            </a:r>
          </a:p>
        </p:txBody>
      </p:sp>
      <p:sp>
        <p:nvSpPr>
          <p:cNvPr id="212" name="Indicador 3"/>
          <p:cNvSpPr txBox="1"/>
          <p:nvPr/>
        </p:nvSpPr>
        <p:spPr>
          <a:xfrm>
            <a:off x="22104000" y="15602400"/>
            <a:ext cx="4410000" cy="3024000"/>
          </a:xfrm>
          <a:prstGeom prst="roundRect">
            <a:avLst/>
          </a:prstGeom>
          <a:solidFill>
            <a:srgbClr val="E6F2F0"/>
          </a:solidFill>
        </p:spPr>
        <p:txBody>
          <a:bodyPr wrap="square" lIns="360000" tIns="360000" rIns="360000" bIns="360000" rtlCol="0" anchor="ctr">
            <a:noAutofit/>
          </a:bodyPr>
          <a:lstStyle/>
          <a:p>
            <a:pPr algn="ctr">
              <a:lnSpc>
                <a:spcPts val="7000"/>
              </a:lnSpc>
              <a:spcAft>
                <a:spcPts val="0"/>
              </a:spcAft>
              <a:buNone/>
            </a:pPr>
            <a:r>
              <a:rPr lang="pt-BR" sz="6600" b="1" dirty="0">
                <a:solidFill>
                  <a:srgbClr val="0E6B6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75,0%</a:t>
            </a:r>
          </a:p>
          <a:p>
            <a:pPr algn="ctr">
              <a:lnSpc>
                <a:spcPts val="3300"/>
              </a:lnSpc>
              <a:spcAft>
                <a:spcPts val="0"/>
              </a:spcAft>
              <a:buNone/>
            </a:pPr>
            <a:r>
              <a:rPr lang="pt-BR" sz="3000" b="1" dirty="0">
                <a:solidFill>
                  <a:srgbClr val="1F2937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gamificação</a:t>
            </a:r>
          </a:p>
          <a:p>
            <a:pPr algn="ctr">
              <a:lnSpc>
                <a:spcPts val="2900"/>
              </a:lnSpc>
              <a:spcAft>
                <a:spcPts val="0"/>
              </a:spcAft>
              <a:buNone/>
            </a:pPr>
            <a:r>
              <a:rPr lang="pt-BR" sz="2600" dirty="0">
                <a:solidFill>
                  <a:srgbClr val="1F2937"/>
                </a:solidFill>
                <a:latin typeface="Montserrat" pitchFamily="2" charset="0"/>
                <a:ea typeface="Arial"/>
                <a:cs typeface="Arial"/>
                <a:sym typeface="Arial"/>
              </a:rPr>
              <a:t>9/12 · média 3,9</a:t>
            </a:r>
          </a:p>
        </p:txBody>
      </p:sp>
      <p:sp>
        <p:nvSpPr>
          <p:cNvPr id="213" name="Indicador 4"/>
          <p:cNvSpPr txBox="1"/>
          <p:nvPr/>
        </p:nvSpPr>
        <p:spPr>
          <a:xfrm>
            <a:off x="26802000" y="15602400"/>
            <a:ext cx="4410000" cy="3024000"/>
          </a:xfrm>
          <a:prstGeom prst="roundRect">
            <a:avLst/>
          </a:prstGeom>
          <a:solidFill>
            <a:srgbClr val="E6F2F0"/>
          </a:solidFill>
        </p:spPr>
        <p:txBody>
          <a:bodyPr wrap="square" lIns="360000" tIns="360000" rIns="360000" bIns="360000" rtlCol="0" anchor="ctr">
            <a:noAutofit/>
          </a:bodyPr>
          <a:lstStyle/>
          <a:p>
            <a:pPr algn="ctr">
              <a:lnSpc>
                <a:spcPts val="7000"/>
              </a:lnSpc>
              <a:spcAft>
                <a:spcPts val="0"/>
              </a:spcAft>
              <a:buNone/>
            </a:pPr>
            <a:r>
              <a:rPr lang="pt-BR" sz="6600" b="1" dirty="0">
                <a:solidFill>
                  <a:srgbClr val="0E6B6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83,3%</a:t>
            </a:r>
          </a:p>
          <a:p>
            <a:pPr algn="ctr">
              <a:lnSpc>
                <a:spcPts val="3300"/>
              </a:lnSpc>
              <a:spcAft>
                <a:spcPts val="0"/>
              </a:spcAft>
              <a:buNone/>
            </a:pPr>
            <a:r>
              <a:rPr lang="pt-BR" sz="3000" b="1" dirty="0">
                <a:solidFill>
                  <a:srgbClr val="1F2937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recomendação</a:t>
            </a:r>
          </a:p>
          <a:p>
            <a:pPr algn="ctr">
              <a:lnSpc>
                <a:spcPts val="2900"/>
              </a:lnSpc>
              <a:spcAft>
                <a:spcPts val="0"/>
              </a:spcAft>
              <a:buNone/>
            </a:pPr>
            <a:r>
              <a:rPr lang="pt-BR" sz="2600" dirty="0">
                <a:solidFill>
                  <a:srgbClr val="1F2937"/>
                </a:solidFill>
                <a:latin typeface="Montserrat" pitchFamily="2" charset="0"/>
                <a:ea typeface="Arial"/>
                <a:cs typeface="Arial"/>
                <a:sym typeface="Arial"/>
              </a:rPr>
              <a:t>10/12 · média 4,2</a:t>
            </a:r>
          </a:p>
        </p:txBody>
      </p:sp>
      <p:sp>
        <p:nvSpPr>
          <p:cNvPr id="214" name="Fonte"/>
          <p:cNvSpPr txBox="1"/>
          <p:nvPr/>
        </p:nvSpPr>
        <p:spPr>
          <a:xfrm>
            <a:off x="22104000" y="18698400"/>
            <a:ext cx="9108000" cy="46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3124"/>
              </a:lnSpc>
              <a:spcAft>
                <a:spcPts val="0"/>
              </a:spcAft>
              <a:buNone/>
            </a:pPr>
            <a:r>
              <a:rPr lang="pt-BR" sz="28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Fonte: elaborado pelos autores, 2026.</a:t>
            </a:r>
          </a:p>
        </p:txBody>
      </p:sp>
      <p:sp>
        <p:nvSpPr>
          <p:cNvPr id="215" name="Resultados2"/>
          <p:cNvSpPr txBox="1"/>
          <p:nvPr/>
        </p:nvSpPr>
        <p:spPr>
          <a:xfrm>
            <a:off x="22104000" y="19382400"/>
            <a:ext cx="9108000" cy="266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017"/>
              </a:lnSpc>
              <a:spcAft>
                <a:spcPts val="0"/>
              </a:spcAft>
              <a:buNone/>
            </a:pP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Nove dos 12 participantes (75,0%) concluíram as tarefas sem ajuda. Por ser preliminar (N = 12), os resultados são descritivos e não generalizáveis.</a:t>
            </a:r>
          </a:p>
        </p:txBody>
      </p:sp>
      <p:sp>
        <p:nvSpPr>
          <p:cNvPr id="216" name="Conclusoes"/>
          <p:cNvSpPr txBox="1"/>
          <p:nvPr/>
        </p:nvSpPr>
        <p:spPr>
          <a:xfrm>
            <a:off x="22104000" y="24465600"/>
            <a:ext cx="9108000" cy="4392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017"/>
              </a:lnSpc>
              <a:spcAft>
                <a:spcPts val="800"/>
              </a:spcAft>
              <a:buNone/>
            </a:pP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O EducaCardio+ integra educação em saúde, dados do Health Connect e gamificação em arquitetura offline-first.</a:t>
            </a:r>
          </a:p>
          <a:p>
            <a:pPr algn="l">
              <a:lnSpc>
                <a:spcPts val="4017"/>
              </a:lnSpc>
              <a:spcAft>
                <a:spcPts val="0"/>
              </a:spcAft>
              <a:buNone/>
            </a:pPr>
            <a:r>
              <a:rPr lang="pt-BR" sz="36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 xml:space="preserve">Limitações e futuros: </a:t>
            </a: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amostra pequena e sem diagnóstico; avaliação longitudinal com aprovação do CEP, versão multiplataforma e validação clínica do conteúdo.</a:t>
            </a:r>
          </a:p>
        </p:txBody>
      </p:sp>
      <p:sp>
        <p:nvSpPr>
          <p:cNvPr id="217" name="Agradecimentos"/>
          <p:cNvSpPr txBox="1"/>
          <p:nvPr/>
        </p:nvSpPr>
        <p:spPr>
          <a:xfrm>
            <a:off x="22104000" y="31276800"/>
            <a:ext cx="9108000" cy="158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017"/>
              </a:lnSpc>
              <a:spcAft>
                <a:spcPts val="0"/>
              </a:spcAft>
              <a:buNone/>
            </a:pPr>
            <a:r>
              <a:rPr lang="pt-BR" sz="36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Ao IFBA, pelo apoio institucional, e aos participantes voluntários.</a:t>
            </a:r>
          </a:p>
        </p:txBody>
      </p:sp>
      <p:sp>
        <p:nvSpPr>
          <p:cNvPr id="218" name="Referencias"/>
          <p:cNvSpPr txBox="1"/>
          <p:nvPr/>
        </p:nvSpPr>
        <p:spPr>
          <a:xfrm>
            <a:off x="22104000" y="35208000"/>
            <a:ext cx="9108000" cy="698399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300"/>
              </a:lnSpc>
              <a:spcAft>
                <a:spcPts val="400"/>
              </a:spcAft>
              <a:buNone/>
            </a:pPr>
            <a:r>
              <a:rPr lang="pt-BR" sz="30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 xml:space="preserve">ANDROID DEVELOPERS. </a:t>
            </a:r>
            <a:r>
              <a:rPr lang="pt-BR" sz="30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Health Connect: common use cases</a:t>
            </a:r>
            <a:r>
              <a:rPr lang="pt-BR" sz="30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. 2025. Disponível em: https://developer.android.com/health-and-fitness/guides/health-connect/use-cases.</a:t>
            </a:r>
          </a:p>
          <a:p>
            <a:pPr algn="l">
              <a:lnSpc>
                <a:spcPts val="3300"/>
              </a:lnSpc>
              <a:spcAft>
                <a:spcPts val="400"/>
              </a:spcAft>
              <a:buNone/>
            </a:pPr>
            <a:r>
              <a:rPr lang="pt-BR" sz="30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 xml:space="preserve">INTERNATIONAL DIABETES FEDERATION. </a:t>
            </a:r>
            <a:r>
              <a:rPr lang="pt-BR" sz="30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IDF Diabetes Atlas Reports</a:t>
            </a:r>
            <a:r>
              <a:rPr lang="pt-BR" sz="30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. 2024. Disponível em: https://diabetesatlas.org/.</a:t>
            </a:r>
          </a:p>
          <a:p>
            <a:pPr algn="l">
              <a:lnSpc>
                <a:spcPts val="3300"/>
              </a:lnSpc>
              <a:spcAft>
                <a:spcPts val="400"/>
              </a:spcAft>
              <a:buNone/>
            </a:pPr>
            <a:r>
              <a:rPr lang="pt-BR" sz="30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 xml:space="preserve">ORGANIZAÇÃO MUNDIAL DA SAÚDE. </a:t>
            </a:r>
            <a:r>
              <a:rPr lang="pt-BR" sz="30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Cardiovascular diseases (CVDs)</a:t>
            </a:r>
            <a:r>
              <a:rPr lang="pt-BR" sz="30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. 2025. Disponível em: https://www.who.int/news-room/fact-sheets/detail/cardiovascular-diseases.</a:t>
            </a:r>
          </a:p>
          <a:p>
            <a:pPr algn="l">
              <a:lnSpc>
                <a:spcPts val="3300"/>
              </a:lnSpc>
              <a:spcAft>
                <a:spcPts val="400"/>
              </a:spcAft>
              <a:buNone/>
            </a:pPr>
            <a:r>
              <a:rPr lang="pt-BR" sz="30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 xml:space="preserve">STOYANOV, S. R. et al. Mobile App Rating Scale. </a:t>
            </a:r>
            <a:r>
              <a:rPr lang="pt-BR" sz="30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JMIR mHealth and uHealth</a:t>
            </a:r>
            <a:r>
              <a:rPr lang="pt-BR" sz="30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, v. 3, n. 1, e27, 2015.</a:t>
            </a:r>
          </a:p>
          <a:p>
            <a:pPr algn="l">
              <a:lnSpc>
                <a:spcPts val="3300"/>
              </a:lnSpc>
              <a:spcAft>
                <a:spcPts val="400"/>
              </a:spcAft>
              <a:buNone/>
            </a:pPr>
            <a:r>
              <a:rPr lang="pt-BR" sz="30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 xml:space="preserve">YIN, R. K. </a:t>
            </a:r>
            <a:r>
              <a:rPr lang="pt-BR" sz="3000" b="1" dirty="0">
                <a:solidFill>
                  <a:srgbClr val="000000"/>
                </a:solidFill>
                <a:latin typeface="Montserrat" pitchFamily="2" charset="0"/>
                <a:ea typeface="Arial Bold"/>
                <a:cs typeface="Arial Bold"/>
                <a:sym typeface="Arial Bold"/>
              </a:rPr>
              <a:t>Case study research</a:t>
            </a:r>
            <a:r>
              <a:rPr lang="pt-BR" sz="3000" dirty="0">
                <a:solidFill>
                  <a:srgbClr val="0000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. 5. ed. Thousand Oaks: SAGE, 2014.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422</Words>
  <Application>Microsoft Office PowerPoint</Application>
  <PresentationFormat>Personalizar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Montserrat</vt:lpstr>
      <vt:lpstr>Arial</vt:lpstr>
      <vt:lpstr>Calibri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Área de conhecimento/Subárea (Preencher com base no item 5 do regulamento): ODS vinculado(s) (Preencher o código do ODS, com base no item 6 do regulamento):</dc:title>
  <cp:lastModifiedBy>Elianderson Lima</cp:lastModifiedBy>
  <cp:revision>4</cp:revision>
  <dcterms:created xsi:type="dcterms:W3CDTF">2006-08-16T00:00:00Z</dcterms:created>
  <dcterms:modified xsi:type="dcterms:W3CDTF">2026-10-09T14:28:49Z</dcterms:modified>
  <dc:identifier>DAHWsWWrIA4</dc:identifier>
</cp:coreProperties>
</file>