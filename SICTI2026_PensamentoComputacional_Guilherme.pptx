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e0287a2-9bd8-9453-920e-069870084ce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ema do evento" id="{160ea2b1-c8d6-511d-805a-fd307d79ed43}">
          <p14:sldIdLst>
            <p14:sldId id="265"/>
          </p14:sldIdLst>
        </p14:section>
        <p14:section name="Fechamento" id="{ca52b3f2-7987-6bf9-7fa9-584af1c04856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30 s
O QUE FALAR:
• "Bom dia/Boa tarde! Eu sou Guilherme Freitas, estudante do Bacharelado em Sistemas de Informação do IFBA, Campus Feira de Santana."
• "Apresento o trabalho 'Desenvolvimento de um Ambiente Web Educacional para o Ensino de Pensamento Computacional com Ênfase em Robótica Educacional', orientado pela professora Ana Carolina Sokolonski, com bolsa PIBITI do IFBA."
• Antecipe o foco: "Neste ciclo, o principal resultado foi a reengenharia da plataforma, que hoje está publicada e acessível."
DICA: confirme na programação do Even3 o tempo exato da sua sessão e ajuste o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Defina PC em uma frase e cite os quatro pilares.
• Mostre que o tema é atual: a BNCC passou a incluir a Computação na Educação Básica.
• Apresente a plataforma: um ambiente web com desafios de lógica e robótica simulada, pensado para professores em formação e para o Ensino Médio.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O problema: a versão original era feita em HTML e JavaScript puro, monolítica, com estrutura, estilo e lógica misturados — difícil de manter e evoluir.
• Por isso optamos pela reengenharia: reorganizar a estrutura interna sem perder o conteúdo pedagógico.
OBS.: a pergunta foi redigida a partir do relatório final — ajuste-a ao resumo submetido ao SICTI, se for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Leia o objetivo geral.
• Comente rapidamente os específicos.
• Seja transparente sobre os objetivos 4 e 5: a experimentação com turmas não pôde ser feita no período (indisponibilidade das turmas de Licenciatura e Ensino Médio e limitação de recursos) e segue como continuidade da pesquisa.
DICA: dizer isso antes da banca perguntar demonstra maturidade científica.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O trabalho cruza duas áreas: Educação em Computação (PC, robótica, gamificação) e Engenharia de Software (reengenharia, refatoração).
• Para cada card: uma frase sobre a ideia e como ela aparece na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 30 s
O QUE FALAR:
• A reengenharia seguiu uma estratégia iterativa e incremental, em quatro etapas (percorra o fluxo).
• Destaque a dificuldade real: não havia documentação do sistema antigo, então foi preciso engenharia reversa.
• Cite a stack e a publicação contínua: cada alteração no GitHub é publicada automaticamente na Vercel.
• Se perguntarem sobre a coleta pedagógica: estão previstos pré e pós-testes de PC, rubricas, questionários de engajamento e de flow, diários reflexivos e observação; análise por estatística descritiva e análise de conteúdo (Bardin).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 30 s
O QUE FALAR:
• "O principal resultado foi a reengenharia completa da plataforma, que está publicada e acessível."
• Percorra a tabela: de páginas estáticas acopladas para componentes; de JavaScript sem tipos para TypeScript; e, principalmente, a plataforma ganhou autenticação e persistência do progresso — funcionalidades que não existiam.
• Validação técnica: testes funcionais de caixa-preta em todas as rotas, links, downloads e no fluxo de autenticação (criar conta, login, recuperar senha, manter sessão), além de responsividade entre 360 e 1920 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Mostre que cada pilar do PC tem uma funcionalidade concreta na plataforma.
• Se possível, mostre um print ou um desafio ao vivo (30 s).
• Conclua: a mudança de tecnologia não alterou a proposta pedagógica — ela foi preservada integralmente.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Interprete: a plataforma ficou mais fácil de manter e pronta para receber novas atividades.
• Ligue com a literatura de reengenharia.
• Apresente as limitações com naturalidade, especialmente a experimentação adiada — ela é a continuidade natural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30–45 s (OPCIONAL — revise ou exclua)
O QUE FALAR:
• O tema do evento é "CIÊNCIA DELAS em Territórios Ancestrais Afroindígenas".
• Faça uma ligação breve e honesta: um recurso aberto e gratuito para formar professores amplia o acesso ao PC no território.
DICA: não force a conexão com os saberes afroindígenas; o trabalho não trata diretamente desse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Responda à pergunta de pesquisa: "Modernizamos a plataforma sem perder o conteúdo pedagógico, e ela está no ar."
• Próximos passos: a validação pedagógica é o passo mais importante.
• Mencione a divulgação: artigo submetido ao CONNEPI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necessário apresentar este slide oralmente — deixe-o disponível caso a banca queira consultar.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15 s + perguntas
O QUE FALAR:
• Agradeça ao IFBA e à orientadora. "Fico à disposição para perguntas."
PERGUNTAS PROVÁVEIS:
• Por que reengenharia e não reescrever do zero? (preserva o conhecimento de domínio e o conteúdo pedagógico)
• Por que a experimentação não foi feita? (turmas indisponíveis e recursos limitados; segue como continuidade)
• Como será avaliado o impacto pedagógico? (pré e pós-testes de PC, rubricas, questionários, diários reflexivos; análise estatística descritiva e de conteúdo)
• O TinkerCad já está integrado? (confirme com a orientadora antes da apresentação)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image-1002-5.png"/><Relationship Id="rId6" Type="http://schemas.openxmlformats.org/officeDocument/2006/relationships/image" Target="../media/image-1002-6.png"/><Relationship Id="rId7" Type="http://schemas.openxmlformats.org/officeDocument/2006/relationships/image" Target="../media/image-1002-7.png"/><Relationship Id="rId8" Type="http://schemas.openxmlformats.org/officeDocument/2006/relationships/image" Target="../media/image-1002-8.png"/><Relationship Id="rId9" Type="http://schemas.openxmlformats.org/officeDocument/2006/relationships/image" Target="../media/image-1002-9.png"/><Relationship Id="rId10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image" Target="../media/image-1003-4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image" Target="../media/image-1004-3.png"/><Relationship Id="rId4" Type="http://schemas.openxmlformats.org/officeDocument/2006/relationships/image" Target="../media/image-1004-4.png"/><Relationship Id="rId5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image" Target="../media/image-1005-3.png"/><Relationship Id="rId4" Type="http://schemas.openxmlformats.org/officeDocument/2006/relationships/image" Target="../media/image-1005-4.png"/><Relationship Id="rId5" Type="http://schemas.openxmlformats.org/officeDocument/2006/relationships/image" Target="../media/image-1005-5.png"/><Relationship Id="rId6" Type="http://schemas.openxmlformats.org/officeDocument/2006/relationships/image" Target="../media/image-1005-6.png"/><Relationship Id="rId7" Type="http://schemas.openxmlformats.org/officeDocument/2006/relationships/image" Target="../media/image-1005-7.png"/><Relationship Id="rId8" Type="http://schemas.openxmlformats.org/officeDocument/2006/relationships/image" Target="../media/image-1005-8.png"/><Relationship Id="rId9" Type="http://schemas.openxmlformats.org/officeDocument/2006/relationships/image" Target="../media/image-1005-9.png"/><Relationship Id="rId1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le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14500" cy="1714500"/>
          </a:xfrm>
          <a:prstGeom prst="rect">
            <a:avLst/>
          </a:prstGeom>
        </p:spPr>
      </p:pic>
      <p:pic>
        <p:nvPicPr>
          <p:cNvPr id="3" name="Image 1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1714500" cy="1714500"/>
          </a:xfrm>
          <a:prstGeom prst="rect">
            <a:avLst/>
          </a:prstGeom>
        </p:spPr>
      </p:pic>
      <p:pic>
        <p:nvPicPr>
          <p:cNvPr id="4" name="Image 2" descr="assets/tile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714500" cy="1714500"/>
          </a:xfrm>
          <a:prstGeom prst="rect">
            <a:avLst/>
          </a:prstGeom>
        </p:spPr>
      </p:pic>
      <p:pic>
        <p:nvPicPr>
          <p:cNvPr id="5" name="Image 3" descr="assets/tile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6" name="Image 4" descr="assets/tile_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195" y="0"/>
            <a:ext cx="1714500" cy="1714500"/>
          </a:xfrm>
          <a:prstGeom prst="rect">
            <a:avLst/>
          </a:prstGeom>
        </p:spPr>
      </p:pic>
      <p:pic>
        <p:nvPicPr>
          <p:cNvPr id="7" name="Image 5" descr="assets/tile_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195" y="1714500"/>
            <a:ext cx="1714500" cy="1714500"/>
          </a:xfrm>
          <a:prstGeom prst="rect">
            <a:avLst/>
          </a:prstGeom>
        </p:spPr>
      </p:pic>
      <p:pic>
        <p:nvPicPr>
          <p:cNvPr id="8" name="Image 6" descr="assets/tile_diamo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195" y="3429000"/>
            <a:ext cx="1714500" cy="1714500"/>
          </a:xfrm>
          <a:prstGeom prst="rect">
            <a:avLst/>
          </a:prstGeom>
        </p:spPr>
      </p:pic>
      <p:pic>
        <p:nvPicPr>
          <p:cNvPr id="9" name="Image 7" descr="assets/tile_cactu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195" y="5143500"/>
            <a:ext cx="1714500" cy="1714500"/>
          </a:xfrm>
          <a:prstGeom prst="rect">
            <a:avLst/>
          </a:prstGeom>
        </p:spPr>
      </p:pic>
      <p:pic>
        <p:nvPicPr>
          <p:cNvPr id="10" name="Image 8" descr="assets/emblem_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320040"/>
            <a:ext cx="1481328" cy="1124712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011680" y="155448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XXIII SEMINÁRIO DE INICIAÇÃO CIENTÍFICA, TECNOLÓGICA E INOVAÇÃO</a:t>
            </a:r>
            <a:endParaRPr lang="en-US" sz="1300" dirty="0"/>
          </a:p>
        </p:txBody>
      </p:sp>
      <p:sp>
        <p:nvSpPr>
          <p:cNvPr id="12" name="Text 1"/>
          <p:cNvSpPr/>
          <p:nvPr>
            <p:ph idx="110" type="title" hasCustomPrompt="1"/>
          </p:nvPr>
        </p:nvSpPr>
        <p:spPr>
          <a:xfrm>
            <a:off x="2011680" y="2011680"/>
            <a:ext cx="8165592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Título do trabalho</a:t>
            </a:r>
            <a:endParaRPr lang="en-US" sz="2800" dirty="0"/>
          </a:p>
        </p:txBody>
      </p:sp>
      <p:sp>
        <p:nvSpPr>
          <p:cNvPr id="13" name="Text 1"/>
          <p:cNvSpPr/>
          <p:nvPr>
            <p:ph idx="111" type="body" hasCustomPrompt="1"/>
          </p:nvPr>
        </p:nvSpPr>
        <p:spPr>
          <a:xfrm>
            <a:off x="2011680" y="3520440"/>
            <a:ext cx="816559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Autoras/es</a:t>
            </a:r>
            <a:endParaRPr lang="en-US" sz="1600" dirty="0"/>
          </a:p>
        </p:txBody>
      </p:sp>
      <p:sp>
        <p:nvSpPr>
          <p:cNvPr id="14" name="Text 1"/>
          <p:cNvSpPr/>
          <p:nvPr/>
        </p:nvSpPr>
        <p:spPr>
          <a:xfrm>
            <a:off x="3127248" y="4709160"/>
            <a:ext cx="594360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CIÊNCIA DELAS em Territórios Ancestrais Afroindígenas</a:t>
            </a:r>
            <a:endParaRPr lang="en-US" sz="1600" dirty="0"/>
          </a:p>
        </p:txBody>
      </p:sp>
      <p:sp>
        <p:nvSpPr>
          <p:cNvPr id="15" name="Text 2"/>
          <p:cNvSpPr/>
          <p:nvPr/>
        </p:nvSpPr>
        <p:spPr>
          <a:xfrm>
            <a:off x="2011680" y="55321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CAMPUS SALVADOR   •   03 a 06 de NOVEMBRO de 2026   •   VII CPPGI – IFBA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le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pic>
        <p:nvPicPr>
          <p:cNvPr id="3" name="Image 1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502920"/>
            <a:ext cx="384048" cy="384048"/>
          </a:xfrm>
          <a:prstGeom prst="rect">
            <a:avLst/>
          </a:prstGeom>
        </p:spPr>
      </p:pic>
      <p:pic>
        <p:nvPicPr>
          <p:cNvPr id="4" name="Image 2" descr="assets/tile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502920"/>
            <a:ext cx="384048" cy="384048"/>
          </a:xfrm>
          <a:prstGeom prst="rect">
            <a:avLst/>
          </a:prstGeom>
        </p:spPr>
      </p:pic>
      <p:pic>
        <p:nvPicPr>
          <p:cNvPr id="5" name="Image 3" descr="assets/tile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4" y="502920"/>
            <a:ext cx="384048" cy="384048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7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XXIII SICTI  ·  VII CPPGI  ·  IFBA  ·  Campus Salvador  ·  03 a 06/11/2026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le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8735" y="548640"/>
            <a:ext cx="822960" cy="822960"/>
          </a:xfrm>
          <a:prstGeom prst="rect">
            <a:avLst/>
          </a:prstGeom>
        </p:spPr>
      </p:pic>
      <p:pic>
        <p:nvPicPr>
          <p:cNvPr id="3" name="Image 1" descr="assets/tile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1371600"/>
            <a:ext cx="822960" cy="822960"/>
          </a:xfrm>
          <a:prstGeom prst="rect">
            <a:avLst/>
          </a:prstGeom>
        </p:spPr>
      </p:pic>
      <p:pic>
        <p:nvPicPr>
          <p:cNvPr id="4" name="Image 2" descr="assets/tile_diamo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194560"/>
            <a:ext cx="822960" cy="822960"/>
          </a:xfrm>
          <a:prstGeom prst="rect">
            <a:avLst/>
          </a:prstGeom>
        </p:spPr>
      </p:pic>
      <p:pic>
        <p:nvPicPr>
          <p:cNvPr id="5" name="Image 3" descr="assets/tile_cact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735" y="301752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4" type="title" hasCustomPrompt="1"/>
          </p:nvPr>
        </p:nvSpPr>
        <p:spPr>
          <a:xfrm>
            <a:off x="548640" y="365760"/>
            <a:ext cx="9966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7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XXIII SICTI  ·  VII CPPGI  ·  IFBA  ·  Campus Salvador  ·  03 a 06/11/2026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le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14500" cy="1714500"/>
          </a:xfrm>
          <a:prstGeom prst="rect">
            <a:avLst/>
          </a:prstGeom>
        </p:spPr>
      </p:pic>
      <p:pic>
        <p:nvPicPr>
          <p:cNvPr id="3" name="Image 1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1714500" cy="1714500"/>
          </a:xfrm>
          <a:prstGeom prst="rect">
            <a:avLst/>
          </a:prstGeom>
        </p:spPr>
      </p:pic>
      <p:pic>
        <p:nvPicPr>
          <p:cNvPr id="4" name="Image 2" descr="assets/tile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714500" cy="1714500"/>
          </a:xfrm>
          <a:prstGeom prst="rect">
            <a:avLst/>
          </a:prstGeom>
        </p:spPr>
      </p:pic>
      <p:pic>
        <p:nvPicPr>
          <p:cNvPr id="5" name="Image 3" descr="assets/tile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6" name="Image 4" descr="assets/tile_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195" y="0"/>
            <a:ext cx="1714500" cy="1714500"/>
          </a:xfrm>
          <a:prstGeom prst="rect">
            <a:avLst/>
          </a:prstGeom>
        </p:spPr>
      </p:pic>
      <p:pic>
        <p:nvPicPr>
          <p:cNvPr id="7" name="Image 5" descr="assets/tile_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195" y="1714500"/>
            <a:ext cx="1714500" cy="1714500"/>
          </a:xfrm>
          <a:prstGeom prst="rect">
            <a:avLst/>
          </a:prstGeom>
        </p:spPr>
      </p:pic>
      <p:pic>
        <p:nvPicPr>
          <p:cNvPr id="8" name="Image 6" descr="assets/tile_diamo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195" y="3429000"/>
            <a:ext cx="1714500" cy="1714500"/>
          </a:xfrm>
          <a:prstGeom prst="rect">
            <a:avLst/>
          </a:prstGeom>
        </p:spPr>
      </p:pic>
      <p:pic>
        <p:nvPicPr>
          <p:cNvPr id="9" name="Image 7" descr="assets/tile_cactu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195" y="5143500"/>
            <a:ext cx="1714500" cy="1714500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5376672" y="0"/>
            <a:ext cx="1426464" cy="16002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1" name="Image 8" descr="assets/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32" y="91440"/>
            <a:ext cx="1152144" cy="1335024"/>
          </a:xfrm>
          <a:prstGeom prst="rect">
            <a:avLst/>
          </a:prstGeom>
        </p:spPr>
      </p:pic>
      <p:sp>
        <p:nvSpPr>
          <p:cNvPr id="12" name="Text 1"/>
          <p:cNvSpPr/>
          <p:nvPr>
            <p:ph idx="110" type="title" hasCustomPrompt="1"/>
          </p:nvPr>
        </p:nvSpPr>
        <p:spPr>
          <a:xfrm>
            <a:off x="2011680" y="1828800"/>
            <a:ext cx="816559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Obrigada!</a:t>
            </a:r>
            <a:endParaRPr lang="en-US" sz="4800" dirty="0"/>
          </a:p>
        </p:txBody>
      </p:sp>
      <p:sp>
        <p:nvSpPr>
          <p:cNvPr id="13" name="Text 1"/>
          <p:cNvSpPr/>
          <p:nvPr>
            <p:ph idx="111" type="body" hasCustomPrompt="1"/>
          </p:nvPr>
        </p:nvSpPr>
        <p:spPr>
          <a:xfrm>
            <a:off x="2011680" y="2926080"/>
            <a:ext cx="816559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Contato</a:t>
            </a:r>
            <a:endParaRPr lang="en-US" sz="1600" dirty="0"/>
          </a:p>
        </p:txBody>
      </p:sp>
      <p:sp>
        <p:nvSpPr>
          <p:cNvPr id="14" name="Text 1"/>
          <p:cNvSpPr/>
          <p:nvPr/>
        </p:nvSpPr>
        <p:spPr>
          <a:xfrm>
            <a:off x="3127248" y="4709160"/>
            <a:ext cx="594360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CIÊNCIA DELAS em Territórios Ancestrais Afroindígenas</a:t>
            </a:r>
            <a:endParaRPr lang="en-US" sz="1600" dirty="0"/>
          </a:p>
        </p:txBody>
      </p:sp>
      <p:sp>
        <p:nvSpPr>
          <p:cNvPr id="15" name="Text 2"/>
          <p:cNvSpPr/>
          <p:nvPr/>
        </p:nvSpPr>
        <p:spPr>
          <a:xfrm>
            <a:off x="2011680" y="55321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XXIII SICTI  •  VII CPPGI – IFBA  •  2026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10" type="title" hasCustomPrompt="1"/>
          </p:nvPr>
        </p:nvSpPr>
        <p:spPr>
          <a:xfrm>
            <a:off x="2011680" y="2011680"/>
            <a:ext cx="8165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bg1"/>
                </a:solidFill>
              </a:rPr>
              <a:t>Desenvolvimento de um Ambiente Web Educacional para o Ensino de Pensamento Computacional com Ênfase em Robótica Educacional</a:t>
            </a:r>
            <a:endParaRPr lang="en-US" sz="2800" dirty="0"/>
          </a:p>
        </p:txBody>
      </p:sp>
      <p:sp>
        <p:nvSpPr>
          <p:cNvPr id="3" name="Text 1"/>
          <p:cNvSpPr/>
          <p:nvPr>
            <p:ph idx="111" type="body" hasCustomPrompt="1"/>
          </p:nvPr>
        </p:nvSpPr>
        <p:spPr>
          <a:xfrm>
            <a:off x="2011680" y="3520440"/>
            <a:ext cx="81655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Guilherme Freitas Oliveira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Orientação: Profa. Ana Carolina Sokolonski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IFBA – Campus Feira de Santana – COINF  ·  PIBITI – IFBA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Introdução e contexto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Pensamento Computacional (PC):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capacidade de formular problemas e construir soluções de forma lógica, apoiada em quatro pilares — decomposição, padrões, abstração e algoritmos.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Na escola: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complemento de Computação à BNCC (2022) inclui essas competências na Educação Básica.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Como ensinar: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plataformas que unem Robótica Educacional, jogos e desafios práticos favorecem a experimentação e a reflexão.</a:t>
            </a:r>
            <a:endParaRPr lang="en-US" sz="1700" dirty="0"/>
          </a:p>
        </p:txBody>
      </p:sp>
      <p:sp>
        <p:nvSpPr>
          <p:cNvPr id="4" name="area_imagem"/>
          <p:cNvSpPr/>
          <p:nvPr/>
        </p:nvSpPr>
        <p:spPr>
          <a:xfrm>
            <a:off x="6675120" y="1463040"/>
            <a:ext cx="4965192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pic>
        <p:nvPicPr>
          <p:cNvPr id="5" name="icone_leaf" descr="assets/tile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48" y="2743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0" y="3566160"/>
            <a:ext cx="4416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Insira aqui um print da plataforma (arcabouco-digital.vercel.app)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Problema e justificativa</a:t>
            </a:r>
            <a:endParaRPr lang="en-US" sz="3200" dirty="0"/>
          </a:p>
        </p:txBody>
      </p:sp>
      <p:sp>
        <p:nvSpPr>
          <p:cNvPr id="3" name="pergunta"/>
          <p:cNvSpPr/>
          <p:nvPr/>
        </p:nvSpPr>
        <p:spPr>
          <a:xfrm>
            <a:off x="548640" y="1463040"/>
            <a:ext cx="11091672" cy="155448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PERGUNTA DE PESQUISA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Como modernizar a plataforma legada de Pensamento Computacional, preservando seu conteúdo pedagógico e tornando-a mais fácil de manter e evoluir?</a:t>
            </a:r>
            <a:endParaRPr lang="en-US" sz="1600" dirty="0"/>
          </a:p>
        </p:txBody>
      </p:sp>
      <p:sp>
        <p:nvSpPr>
          <p:cNvPr id="5" name="card_just_1"/>
          <p:cNvSpPr/>
          <p:nvPr/>
        </p:nvSpPr>
        <p:spPr>
          <a:xfrm>
            <a:off x="548640" y="338328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6" name="icone_brain" descr="assets/tile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611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43434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Relevância científica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reengenharia preserva o conhecimento de domínio já incorporado, em vez de reescrever o sistema do zero.</a:t>
            </a:r>
            <a:endParaRPr lang="en-US" sz="1400" dirty="0"/>
          </a:p>
        </p:txBody>
      </p:sp>
      <p:sp>
        <p:nvSpPr>
          <p:cNvPr id="8" name="card_just_2"/>
          <p:cNvSpPr/>
          <p:nvPr/>
        </p:nvSpPr>
        <p:spPr>
          <a:xfrm>
            <a:off x="4370832" y="338328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9" name="icone_leaf" descr="assets/tile_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361188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45152" y="43434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Relevância social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Apoia a formação de professores e o ensino de PC no Ensino Médio com um recurso aberto na web.</a:t>
            </a:r>
            <a:endParaRPr lang="en-US" sz="1400" dirty="0"/>
          </a:p>
        </p:txBody>
      </p:sp>
      <p:sp>
        <p:nvSpPr>
          <p:cNvPr id="11" name="card_just_3"/>
          <p:cNvSpPr/>
          <p:nvPr/>
        </p:nvSpPr>
        <p:spPr>
          <a:xfrm>
            <a:off x="8193024" y="338328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12" name="icone_molecule" descr="assets/tile_molecu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61188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67344" y="43434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Relevância para o IFBA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Consolida a infraestrutura para as próximas etapas da pesquisa em PC no campus.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Objetivos</a:t>
            </a:r>
            <a:endParaRPr lang="en-US" sz="3200" dirty="0"/>
          </a:p>
        </p:txBody>
      </p:sp>
      <p:sp>
        <p:nvSpPr>
          <p:cNvPr id="3" name="objetivo_geral"/>
          <p:cNvSpPr/>
          <p:nvPr/>
        </p:nvSpPr>
        <p:spPr>
          <a:xfrm>
            <a:off x="548640" y="1463040"/>
            <a:ext cx="4480560" cy="4480560"/>
          </a:xfrm>
          <a:prstGeom prst="roundRect">
            <a:avLst>
              <a:gd name="adj" fmla="val 2449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840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OBJETIVO GERAL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Desenvolver e validar um ambiente web interativo para o ensino de Pensamento Computacional, voltado à formação de professores, com uso de Robótica Educacional e gamificação.</a:t>
            </a:r>
            <a:endParaRPr lang="en-US" sz="1600" dirty="0"/>
          </a:p>
        </p:txBody>
      </p:sp>
      <p:sp>
        <p:nvSpPr>
          <p:cNvPr id="5" name="num_1"/>
          <p:cNvSpPr/>
          <p:nvPr/>
        </p:nvSpPr>
        <p:spPr>
          <a:xfrm>
            <a:off x="5486400" y="15453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0" y="1545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463040"/>
            <a:ext cx="528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Elaborar módulos online com conteúdos conceituais, práticos e avaliativos.</a:t>
            </a:r>
            <a:endParaRPr lang="en-US" sz="1500" dirty="0"/>
          </a:p>
        </p:txBody>
      </p:sp>
      <p:sp>
        <p:nvSpPr>
          <p:cNvPr id="8" name="num_2"/>
          <p:cNvSpPr/>
          <p:nvPr/>
        </p:nvSpPr>
        <p:spPr>
          <a:xfrm>
            <a:off x="5486400" y="244144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2441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359152"/>
            <a:ext cx="528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Integrar simuladores, como o TinkerCad, para experimentação em Robótica Educacional.</a:t>
            </a:r>
            <a:endParaRPr lang="en-US" sz="1500" dirty="0"/>
          </a:p>
        </p:txBody>
      </p:sp>
      <p:sp>
        <p:nvSpPr>
          <p:cNvPr id="11" name="num_3"/>
          <p:cNvSpPr/>
          <p:nvPr/>
        </p:nvSpPr>
        <p:spPr>
          <a:xfrm>
            <a:off x="5486400" y="3337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255264"/>
            <a:ext cx="528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Aplicar elementos de gamificação para aumentar o engajamento.</a:t>
            </a:r>
            <a:endParaRPr lang="en-US" sz="1500" dirty="0"/>
          </a:p>
        </p:txBody>
      </p:sp>
      <p:sp>
        <p:nvSpPr>
          <p:cNvPr id="14" name="num_4"/>
          <p:cNvSpPr/>
          <p:nvPr/>
        </p:nvSpPr>
        <p:spPr>
          <a:xfrm>
            <a:off x="5486400" y="4233672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4233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151376"/>
            <a:ext cx="528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Avaliar o impacto no desenvolvimento do PC por meio de testes comparativos.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   em continuidade</a:t>
            </a:r>
            <a:endParaRPr lang="en-US" sz="1500" dirty="0"/>
          </a:p>
        </p:txBody>
      </p:sp>
      <p:sp>
        <p:nvSpPr>
          <p:cNvPr id="17" name="num_5"/>
          <p:cNvSpPr/>
          <p:nvPr/>
        </p:nvSpPr>
        <p:spPr>
          <a:xfrm>
            <a:off x="5486400" y="5129784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0" y="5129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5047488"/>
            <a:ext cx="5285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Identificar desafios e melhorias na aplicação com professores em formação.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   em continuidade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Fundamentação teórica</a:t>
            </a:r>
            <a:endParaRPr lang="en-US" sz="3200" dirty="0"/>
          </a:p>
        </p:txBody>
      </p:sp>
      <p:sp>
        <p:nvSpPr>
          <p:cNvPr id="3" name="card_conceito_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pic>
        <p:nvPicPr>
          <p:cNvPr id="4" name="icone_triangle" descr="assets/tile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69748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Pensamento Computacional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WING (2006); BRACKMANN (2017)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Competência para resolver problemas de forma estruturada, apoiada em quatro pilares.</a:t>
            </a:r>
            <a:endParaRPr lang="en-US" sz="1500" dirty="0"/>
          </a:p>
        </p:txBody>
      </p:sp>
      <p:sp>
        <p:nvSpPr>
          <p:cNvPr id="6" name="card_conceito_2"/>
          <p:cNvSpPr/>
          <p:nvPr/>
        </p:nvSpPr>
        <p:spPr>
          <a:xfrm>
            <a:off x="4370832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pic>
        <p:nvPicPr>
          <p:cNvPr id="7" name="icone_diamond" descr="assets/tile_diamo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78308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90872" y="269748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Robótica e gamificação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PAPERT (1980); ALIMISIS (2013); DETERDING et al. (2011)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Aprender construindo e usar elementos de jogos para engajar e dar sentido à prática.</a:t>
            </a:r>
            <a:endParaRPr lang="en-US" sz="1500" dirty="0"/>
          </a:p>
        </p:txBody>
      </p:sp>
      <p:sp>
        <p:nvSpPr>
          <p:cNvPr id="9" name="card_conceito_3"/>
          <p:cNvSpPr/>
          <p:nvPr/>
        </p:nvSpPr>
        <p:spPr>
          <a:xfrm>
            <a:off x="8193024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pic>
        <p:nvPicPr>
          <p:cNvPr id="10" name="icone_cactus" descr="assets/tile_cact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78308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13064" y="269748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Reengenharia de software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COMELLA-DORDA et al. (2000); FOWLER (2004)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Modernizar sistemas legados e refatorar o código preservando o comportamento observável.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Metodologia</a:t>
            </a:r>
            <a:endParaRPr lang="en-US" sz="3200" dirty="0"/>
          </a:p>
        </p:txBody>
      </p:sp>
      <p:sp>
        <p:nvSpPr>
          <p:cNvPr id="3" name="etapa_1"/>
          <p:cNvSpPr/>
          <p:nvPr/>
        </p:nvSpPr>
        <p:spPr>
          <a:xfrm>
            <a:off x="141732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seta_1"/>
          <p:cNvSpPr/>
          <p:nvPr/>
        </p:nvSpPr>
        <p:spPr>
          <a:xfrm>
            <a:off x="2651760" y="1755648"/>
            <a:ext cx="548640" cy="329184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603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Inventário do legado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Engenharia reversa para mapear fluxos de navegação e ativos digitais (sem documentação formal).</a:t>
            </a:r>
            <a:endParaRPr lang="en-US" sz="1400" dirty="0"/>
          </a:p>
        </p:txBody>
      </p:sp>
      <p:sp>
        <p:nvSpPr>
          <p:cNvPr id="7" name="etapa_2"/>
          <p:cNvSpPr/>
          <p:nvPr/>
        </p:nvSpPr>
        <p:spPr>
          <a:xfrm>
            <a:off x="4251960" y="14630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519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seta_2"/>
          <p:cNvSpPr/>
          <p:nvPr/>
        </p:nvSpPr>
        <p:spPr>
          <a:xfrm>
            <a:off x="5486400" y="1755648"/>
            <a:ext cx="548640" cy="329184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5603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Refatoração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Elementos repetidos em vários HTMLs viraram componentes React reutilizáveis.</a:t>
            </a:r>
            <a:endParaRPr lang="en-US" sz="1400" dirty="0"/>
          </a:p>
        </p:txBody>
      </p:sp>
      <p:sp>
        <p:nvSpPr>
          <p:cNvPr id="11" name="etapa_3"/>
          <p:cNvSpPr/>
          <p:nvPr/>
        </p:nvSpPr>
        <p:spPr>
          <a:xfrm>
            <a:off x="7086600" y="14630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660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13" name="seta_3"/>
          <p:cNvSpPr/>
          <p:nvPr/>
        </p:nvSpPr>
        <p:spPr>
          <a:xfrm>
            <a:off x="8321040" y="1755648"/>
            <a:ext cx="548640" cy="329184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25603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Nova navegação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Rotas reimplementadas com o App Router do Next.js, refletindo a hierarquia das atividades.</a:t>
            </a:r>
            <a:endParaRPr lang="en-US" sz="1400" dirty="0"/>
          </a:p>
        </p:txBody>
      </p:sp>
      <p:sp>
        <p:nvSpPr>
          <p:cNvPr id="15" name="etapa_4"/>
          <p:cNvSpPr/>
          <p:nvPr/>
        </p:nvSpPr>
        <p:spPr>
          <a:xfrm>
            <a:off x="9921240" y="146304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212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5603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Identidade visual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Interface padronizada e responsiva, fiel ao conteúdo pedagógico original.</a:t>
            </a:r>
            <a:endParaRPr lang="en-US" sz="1400" dirty="0"/>
          </a:p>
        </p:txBody>
      </p:sp>
      <p:sp>
        <p:nvSpPr>
          <p:cNvPr id="18" name="periodo_local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800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Pesquisa: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aplicada, abordagem mista, exploratória e descritiva.  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Stack: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React, Next.js, TypeScript, Tailwind CSS, Firebase (Auth + Firestore), Vercel + GitHub.  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Período: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out./2025 a set./2026.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Resultados: nova arquitetura</a:t>
            </a:r>
            <a:endParaRPr lang="en-US" sz="3200" dirty="0"/>
          </a:p>
        </p:txBody>
      </p:sp>
      <p:graphicFrame>
        <p:nvGraphicFramePr>
          <p:cNvPr id="8" name="tabela_comparativ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406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legado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plataforma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Páginas HTML estáticas, alto acoplamento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orientada a componentes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puro (tipagem dinâmica)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(tipagem estática)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Estilização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global extenso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por componente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Recarrega a página a cada clique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App Router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do usuário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Firestore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Authentication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chado_1"/>
          <p:cNvSpPr/>
          <p:nvPr/>
        </p:nvSpPr>
        <p:spPr>
          <a:xfrm>
            <a:off x="8321040" y="1417320"/>
            <a:ext cx="33192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03920" y="1508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No ar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publicada em produção: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arcabouco-digital.vercel.app</a:t>
            </a:r>
            <a:endParaRPr lang="en-US" sz="1600" dirty="0"/>
          </a:p>
        </p:txBody>
      </p:sp>
      <p:sp>
        <p:nvSpPr>
          <p:cNvPr id="6" name="achado_2"/>
          <p:cNvSpPr/>
          <p:nvPr/>
        </p:nvSpPr>
        <p:spPr>
          <a:xfrm>
            <a:off x="8321040" y="2788920"/>
            <a:ext cx="33192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2880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360–1920 px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responsividade testada no Chrome e no Firefox</a:t>
            </a:r>
            <a:endParaRPr lang="en-US" sz="1600" dirty="0"/>
          </a:p>
        </p:txBody>
      </p:sp>
      <p:sp>
        <p:nvSpPr>
          <p:cNvPr id="8" name="achado_3"/>
          <p:cNvSpPr/>
          <p:nvPr/>
        </p:nvSpPr>
        <p:spPr>
          <a:xfrm>
            <a:off x="8321040" y="4160520"/>
            <a:ext cx="33192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0" y="4251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Caixa-preta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testes funcionais de rotas, links, downloads e autenticação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Resultados: atividades e pilares do PC</a:t>
            </a:r>
            <a:endParaRPr lang="en-US" sz="3200" dirty="0"/>
          </a:p>
        </p:txBody>
      </p:sp>
      <p:sp>
        <p:nvSpPr>
          <p:cNvPr id="3" name="pilar_1"/>
          <p:cNvSpPr/>
          <p:nvPr/>
        </p:nvSpPr>
        <p:spPr>
          <a:xfrm>
            <a:off x="548640" y="1463040"/>
            <a:ext cx="5404104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pic>
        <p:nvPicPr>
          <p:cNvPr id="4" name="icone_triangle" descr="assets/tile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4592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Decomposição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Desafios estruturados em etapas sequenciais, com progresso registrado.</a:t>
            </a:r>
            <a:endParaRPr lang="en-US" sz="1500" dirty="0"/>
          </a:p>
        </p:txBody>
      </p:sp>
      <p:sp>
        <p:nvSpPr>
          <p:cNvPr id="6" name="pilar_2"/>
          <p:cNvSpPr/>
          <p:nvPr/>
        </p:nvSpPr>
        <p:spPr>
          <a:xfrm>
            <a:off x="6236208" y="1463040"/>
            <a:ext cx="5404104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pic>
        <p:nvPicPr>
          <p:cNvPr id="7" name="icone_molecule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2024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24928" y="164592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Reconhecimento de padrões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Identificação de sequências e regularidades em dados e ações.</a:t>
            </a:r>
            <a:endParaRPr lang="en-US" sz="1500" dirty="0"/>
          </a:p>
        </p:txBody>
      </p:sp>
      <p:sp>
        <p:nvSpPr>
          <p:cNvPr id="9" name="pilar_3"/>
          <p:cNvSpPr/>
          <p:nvPr/>
        </p:nvSpPr>
        <p:spPr>
          <a:xfrm>
            <a:off x="548640" y="3291840"/>
            <a:ext cx="5404104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pic>
        <p:nvPicPr>
          <p:cNvPr id="10" name="icone_diamond" descr="assets/tile_diamo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47472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Abstração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Seleção das variáveis relevantes para resolver cada desafio.</a:t>
            </a:r>
            <a:endParaRPr lang="en-US" sz="1500" dirty="0"/>
          </a:p>
        </p:txBody>
      </p:sp>
      <p:sp>
        <p:nvSpPr>
          <p:cNvPr id="12" name="pilar_4"/>
          <p:cNvSpPr/>
          <p:nvPr/>
        </p:nvSpPr>
        <p:spPr>
          <a:xfrm>
            <a:off x="6236208" y="3291840"/>
            <a:ext cx="5404104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pic>
        <p:nvPicPr>
          <p:cNvPr id="13" name="icone_brain" descr="assets/tile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74904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424928" y="347472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Algoritmos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Lógica e robótica simulada, com validação automática das soluções.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257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reengenharia preservou a intenção pedagógica: tornar tangíveis processos cognitivos por meio de desafios interativos de lógica e de robótica simulada.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Discussão</a:t>
            </a:r>
            <a:endParaRPr lang="en-US" sz="3200" dirty="0"/>
          </a:p>
        </p:txBody>
      </p:sp>
      <p:sp>
        <p:nvSpPr>
          <p:cNvPr id="3" name="card_disc_1"/>
          <p:cNvSpPr/>
          <p:nvPr/>
        </p:nvSpPr>
        <p:spPr>
          <a:xfrm>
            <a:off x="548640" y="1463040"/>
            <a:ext cx="540410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pic>
        <p:nvPicPr>
          <p:cNvPr id="4" name="icone_brain" descr="assets/tile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691640"/>
            <a:ext cx="4023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O que os resultados mostram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nova arquitetura separa layout, lógica e dados e acrescenta login e registro de progresso, ampliando a manutenção e a escalabilidade.</a:t>
            </a:r>
            <a:endParaRPr lang="en-US" sz="1500" dirty="0"/>
          </a:p>
        </p:txBody>
      </p:sp>
      <p:sp>
        <p:nvSpPr>
          <p:cNvPr id="6" name="card_disc_2"/>
          <p:cNvSpPr/>
          <p:nvPr/>
        </p:nvSpPr>
        <p:spPr>
          <a:xfrm>
            <a:off x="6236208" y="1463040"/>
            <a:ext cx="540410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pic>
        <p:nvPicPr>
          <p:cNvPr id="7" name="icone_molecule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3736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79208" y="1691640"/>
            <a:ext cx="4023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Diálogo com a literatura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Confirma a reengenharia como alternativa à reescrita (Comella-Dorda et al.; Fowler), preservando o conhecimento de domínio.</a:t>
            </a:r>
            <a:endParaRPr lang="en-US" sz="1500" dirty="0"/>
          </a:p>
        </p:txBody>
      </p:sp>
      <p:sp>
        <p:nvSpPr>
          <p:cNvPr id="9" name="limitacoes"/>
          <p:cNvSpPr/>
          <p:nvPr/>
        </p:nvSpPr>
        <p:spPr>
          <a:xfrm>
            <a:off x="548640" y="4206240"/>
            <a:ext cx="11091672" cy="178308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/>
        </p:spPr>
      </p:sp>
      <p:pic>
        <p:nvPicPr>
          <p:cNvPr id="10" name="icone_sun" descr="assets/tile_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262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83080" y="4343400"/>
            <a:ext cx="9601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Limitações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Sem testes automatizados; sem testes de usabilidade com estudantes em sala; dependência de conexão com a nuvem; experimentação pedagógica não realizada no período (turmas indisponíveis e recursos limitados).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Diálogo com o tema “Ciência Delas”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Como a pesquisa se conecta a “CIÊNCIA DELAS em Territórios Ancestrais Afroindígenas”</a:t>
            </a:r>
            <a:endParaRPr lang="en-US" sz="1500" dirty="0"/>
          </a:p>
        </p:txBody>
      </p:sp>
      <p:sp>
        <p:nvSpPr>
          <p:cNvPr id="4" name="card_tema_1"/>
          <p:cNvSpPr/>
          <p:nvPr/>
        </p:nvSpPr>
        <p:spPr>
          <a:xfrm>
            <a:off x="548640" y="1828800"/>
            <a:ext cx="3200400" cy="41148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</p:sp>
      <p:sp>
        <p:nvSpPr>
          <p:cNvPr id="5" name="marca_tema_1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880360"/>
            <a:ext cx="2560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Protagonismo das mulheres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Pesquisa orientada por uma mulher na Computação, área em que a presença feminina ainda é minoritária.</a:t>
            </a:r>
            <a:endParaRPr lang="en-US" sz="1500" dirty="0"/>
          </a:p>
        </p:txBody>
      </p:sp>
      <p:sp>
        <p:nvSpPr>
          <p:cNvPr id="7" name="card_tema_2"/>
          <p:cNvSpPr/>
          <p:nvPr/>
        </p:nvSpPr>
        <p:spPr>
          <a:xfrm>
            <a:off x="3977640" y="1828800"/>
            <a:ext cx="3200400" cy="41148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</p:sp>
      <p:sp>
        <p:nvSpPr>
          <p:cNvPr id="8" name="marca_tema_2"/>
          <p:cNvSpPr/>
          <p:nvPr/>
        </p:nvSpPr>
        <p:spPr>
          <a:xfrm>
            <a:off x="4297680" y="21488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2880360"/>
            <a:ext cx="2560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Ciência aberta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Plataforma gratuita e acessível na web, sem instalação, para escolas e cursos de formação docente.</a:t>
            </a:r>
            <a:endParaRPr lang="en-US" sz="1500" dirty="0"/>
          </a:p>
        </p:txBody>
      </p:sp>
      <p:sp>
        <p:nvSpPr>
          <p:cNvPr id="10" name="card_tema_3"/>
          <p:cNvSpPr/>
          <p:nvPr/>
        </p:nvSpPr>
        <p:spPr>
          <a:xfrm>
            <a:off x="7406640" y="1828800"/>
            <a:ext cx="3200400" cy="41148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</p:sp>
      <p:sp>
        <p:nvSpPr>
          <p:cNvPr id="11" name="marca_tema_3"/>
          <p:cNvSpPr/>
          <p:nvPr/>
        </p:nvSpPr>
        <p:spPr>
          <a:xfrm>
            <a:off x="7726680" y="21488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26680" y="2880360"/>
            <a:ext cx="2560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Impacto no território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Base para a formação de professores e o ensino de PC em escolas públicas da Bahia.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Considerações finais</a:t>
            </a:r>
            <a:endParaRPr lang="en-US" sz="3200" dirty="0"/>
          </a:p>
        </p:txBody>
      </p:sp>
      <p:sp>
        <p:nvSpPr>
          <p:cNvPr id="3" name="check_1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Reengenharia concluída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Plataforma migrada para uma arquitetura modular e publicada em produção.</a:t>
            </a:r>
            <a:endParaRPr lang="en-US" sz="1500" dirty="0"/>
          </a:p>
        </p:txBody>
      </p:sp>
      <p:sp>
        <p:nvSpPr>
          <p:cNvPr id="6" name="check_2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9260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Conteúdo preservado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Atividades e proposta pedagógica mantidas integralmente.</a:t>
            </a:r>
            <a:endParaRPr lang="en-US" sz="1500" dirty="0"/>
          </a:p>
        </p:txBody>
      </p:sp>
      <p:sp>
        <p:nvSpPr>
          <p:cNvPr id="9" name="check_3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38912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Base para a pesquisa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Infraestrutura pronta para a validação pedagógica com estudantes.</a:t>
            </a:r>
            <a:endParaRPr lang="en-US" sz="1500" dirty="0"/>
          </a:p>
        </p:txBody>
      </p:sp>
      <p:sp>
        <p:nvSpPr>
          <p:cNvPr id="12" name="proximos_passos"/>
          <p:cNvSpPr/>
          <p:nvPr/>
        </p:nvSpPr>
        <p:spPr>
          <a:xfrm>
            <a:off x="6675120" y="1463040"/>
            <a:ext cx="4965192" cy="4480560"/>
          </a:xfrm>
          <a:prstGeom prst="roundRect">
            <a:avLst>
              <a:gd name="adj" fmla="val 2449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95160" y="1737360"/>
            <a:ext cx="4343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PRÓXIMOS PASSOS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chemeClr val="accent5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Conduzir as intervenções pedagógicas com pré e pós-testes de PC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Validar a usabilidade com estudantes em sala de aula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Implementar testes automatizados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Adotar uma arquitetura offline-first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Referências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ALIMISIS, D. Educational robotics: open questions and new challenges. Themes in Science and Technology Education, v. 6, p. 63-71, 2013.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BRACKMANN, C. P. Desenvolvimento do pensamento computacional através de atividades desplugadas na educação básica. 2017. Tese (Doutorado em Informática na Educação) – UFRGS, Porto Alegre, 2017.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BRASIL. Ministério da Educação. Competências gerais da computação na Educação Básica. Brasília, DF: MEC, 2022.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COMELLA-DORDA, S. et al. A survey of legacy system modernization approaches. Pittsburgh: SEI/CMU, 2000. (CMU/SEI-2000-TN-003).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DETERDING, S. et al. From game design elements to gamefulness: defining gamification. In: 15th International Academic MindTrek Conference, Tampere, 2011. p. 9-15.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FOWLER, M. Refatoração: aperfeiçoando o projeto de código existente. Porto Alegre: Bookman, 2004.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PAPERT, S. Mindstorms: children, computers, and powerful ideas. New York: Basic Books, 1980.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WING, J. M. Computational thinking. Communications of the ACM, v. 49, n. 3, p. 33-35, 2006.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10" type="title" hasCustomPrompt="1"/>
          </p:nvPr>
        </p:nvSpPr>
        <p:spPr>
          <a:xfrm>
            <a:off x="2011680" y="1828800"/>
            <a:ext cx="8165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Obrigado!</a:t>
            </a:r>
            <a:endParaRPr lang="en-US" sz="4800" dirty="0"/>
          </a:p>
        </p:txBody>
      </p:sp>
      <p:sp>
        <p:nvSpPr>
          <p:cNvPr id="3" name="Text 1"/>
          <p:cNvSpPr/>
          <p:nvPr>
            <p:ph idx="111" type="body" hasCustomPrompt="1"/>
          </p:nvPr>
        </p:nvSpPr>
        <p:spPr>
          <a:xfrm>
            <a:off x="2011680" y="2926080"/>
            <a:ext cx="81655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Guilherme Freitas Oliveira  ·  20211bsifsa0035@ifba.edu.br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Orientação: Profa. Ana Carolina Sokolonski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Apoio: IFBA – PIBITI  ·  Plataforma: arcabouco-digital.vercel.app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PGI SICTI 2026">
  <a:themeElements>
    <a:clrScheme name="CPPGI SICTI 2026">
      <a:dk1>
        <a:srgbClr val="1F2937"/>
      </a:dk1>
      <a:lt1>
        <a:srgbClr val="FFFFFF"/>
      </a:lt1>
      <a:dk2>
        <a:srgbClr val="1C446F"/>
      </a:dk2>
      <a:lt2>
        <a:srgbClr val="F2F4F7"/>
      </a:lt2>
      <a:accent1>
        <a:srgbClr val="E63A3B"/>
      </a:accent1>
      <a:accent2>
        <a:srgbClr val="FFB337"/>
      </a:accent2>
      <a:accent3>
        <a:srgbClr val="0376B9"/>
      </a:accent3>
      <a:accent4>
        <a:srgbClr val="0C843C"/>
      </a:accent4>
      <a:accent5>
        <a:srgbClr val="1C446F"/>
      </a:accent5>
      <a:accent6>
        <a:srgbClr val="6B7280"/>
      </a:accent6>
      <a:hlink>
        <a:srgbClr val="0376B9"/>
      </a:hlink>
      <a:folHlink>
        <a:srgbClr val="1C446F"/>
      </a:folHlink>
    </a:clrScheme>
    <a:fontScheme name="CPPGI SICTI 20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SICTI 2026 — Ambiente Web de Pensamento Computacional (Guilherme Freitas)</dc:title>
  <dc:subject>PptxGenJS Presentation</dc:subject>
  <dc:creator>Ana Carolina Sokolonski Anton</dc:creator>
  <cp:lastModifiedBy>Ana Carolina Sokolonski Anton</cp:lastModifiedBy>
  <cp:revision>1</cp:revision>
  <dcterms:created xsi:type="dcterms:W3CDTF">2026-10-20T13:05:50Z</dcterms:created>
  <dcterms:modified xsi:type="dcterms:W3CDTF">2026-10-20T13:05:50Z</dcterms:modified>
</cp:coreProperties>
</file>