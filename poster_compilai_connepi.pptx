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32397700" cy="43192700"/>
  <p:notesSz cx="6858000" cy="9144000"/>
  <p:embeddedFontLst>
    <p:embeddedFont>
      <p:font typeface="Montserrat" pitchFamily="2" charset="0"/>
      <p:regular r:id="rId3"/>
      <p:bold r:id="rId4"/>
      <p:italic r:id="rId5"/>
      <p:boldItalic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1500" y="-40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font" Target="fonts/font4.fntdata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hyperlink" Target="mailto:xxxx@email.com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3.jpe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399288" cy="4589459"/>
            <a:chOff x="0" y="0"/>
            <a:chExt cx="43199050" cy="61192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199050" cy="6119241"/>
            </a:xfrm>
            <a:custGeom>
              <a:avLst/>
              <a:gdLst/>
              <a:ahLst/>
              <a:cxnLst/>
              <a:rect l="l" t="t" r="r" b="b"/>
              <a:pathLst>
                <a:path w="43199050" h="6119241">
                  <a:moveTo>
                    <a:pt x="0" y="0"/>
                  </a:moveTo>
                  <a:lnTo>
                    <a:pt x="43199050" y="0"/>
                  </a:lnTo>
                  <a:lnTo>
                    <a:pt x="43199050" y="6119241"/>
                  </a:lnTo>
                  <a:lnTo>
                    <a:pt x="0" y="61192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68"/>
              </a:stretch>
            </a:blipFill>
          </p:spPr>
          <p:txBody>
            <a:bodyPr/>
            <a:lstStyle/>
            <a:p>
              <a:endParaRPr lang="pt-BR">
                <a:latin typeface="Montserrat" pitchFamily="2" charset="0"/>
              </a:endParaRPr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080000" y="5184000"/>
            <a:ext cx="30240000" cy="3456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55"/>
              </a:lnSpc>
              <a:spcAft>
                <a:spcPts val="0"/>
              </a:spcAft>
              <a:buNone/>
            </a:pPr>
            <a:r>
              <a:rPr lang="pt-BR" sz="7600" b="1" dirty="0">
                <a:solidFill>
                  <a:srgbClr val="813709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COMPILAÍ: DEMOCRATIZAÇÃO DO ENSINO DE PROGRAMAÇÃO ATRAVÉS DE UM INTERPRETADOR MULTIPLATAFORMA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80000" y="8712000"/>
            <a:ext cx="30240000" cy="216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10"/>
              </a:lnSpc>
              <a:spcAft>
                <a:spcPts val="0"/>
              </a:spcAft>
              <a:buNone/>
            </a:pPr>
            <a:r>
              <a:rPr lang="pt-BR" sz="4400" b="1" dirty="0">
                <a:solidFill>
                  <a:srgbClr val="000000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Ana Carolina Sokolonski (IFBA); Raimundo Rabelo Filho (IFBA); Matheus Felipe Ferreira (IFBA)</a:t>
            </a:r>
          </a:p>
          <a:p>
            <a:pPr algn="ctr">
              <a:lnSpc>
                <a:spcPts val="4500"/>
              </a:lnSpc>
              <a:spcAft>
                <a:spcPts val="0"/>
              </a:spcAft>
              <a:buNone/>
            </a:pPr>
            <a:r>
              <a:rPr lang="pt-BR" sz="40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Autor correspondente: carolsoko@ifba.edu.br</a:t>
            </a:r>
          </a:p>
          <a:p>
            <a:pPr algn="ctr">
              <a:lnSpc>
                <a:spcPts val="4500"/>
              </a:lnSpc>
              <a:spcAft>
                <a:spcPts val="0"/>
              </a:spcAft>
              <a:buNone/>
            </a:pPr>
            <a:r>
              <a:rPr lang="pt-BR" sz="40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Instituição: Instituto Federal da Bahia (IFBA) – Campus Feira de Santana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4569738" y="1257300"/>
            <a:ext cx="6448425" cy="1862138"/>
            <a:chOff x="0" y="0"/>
            <a:chExt cx="8597900" cy="24828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597900" cy="2482850"/>
            </a:xfrm>
            <a:custGeom>
              <a:avLst/>
              <a:gdLst/>
              <a:ahLst/>
              <a:cxnLst/>
              <a:rect l="l" t="t" r="r" b="b"/>
              <a:pathLst>
                <a:path w="8597900" h="2482850">
                  <a:moveTo>
                    <a:pt x="0" y="0"/>
                  </a:moveTo>
                  <a:lnTo>
                    <a:pt x="8597900" y="0"/>
                  </a:lnTo>
                  <a:lnTo>
                    <a:pt x="8597900" y="2482850"/>
                  </a:lnTo>
                  <a:lnTo>
                    <a:pt x="0" y="248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1"/>
              </a:stretch>
            </a:blipFill>
          </p:spPr>
          <p:txBody>
            <a:bodyPr/>
            <a:lstStyle/>
            <a:p>
              <a:endParaRPr lang="pt-BR">
                <a:latin typeface="Montserrat" pitchFamily="2" charset="0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24000" y="12096000"/>
            <a:ext cx="9097347" cy="1805970"/>
            <a:chOff x="0" y="0"/>
            <a:chExt cx="48752948" cy="967824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752947" cy="9678188"/>
            </a:xfrm>
            <a:custGeom>
              <a:avLst/>
              <a:gdLst/>
              <a:ahLst/>
              <a:cxnLst/>
              <a:rect l="l" t="t" r="r" b="b"/>
              <a:pathLst>
                <a:path w="48752947" h="9678188">
                  <a:moveTo>
                    <a:pt x="0" y="0"/>
                  </a:moveTo>
                  <a:lnTo>
                    <a:pt x="48752947" y="0"/>
                  </a:lnTo>
                  <a:lnTo>
                    <a:pt x="48752947" y="9678188"/>
                  </a:lnTo>
                  <a:lnTo>
                    <a:pt x="0" y="96781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0071" r="-20166"/>
              </a:stretch>
            </a:blipFill>
          </p:spPr>
          <p:txBody>
            <a:bodyPr/>
            <a:lstStyle/>
            <a:p>
              <a:endParaRPr lang="pt-BR">
                <a:latin typeface="Montserrat" pitchFamily="2" charset="0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475999" y="12096000"/>
            <a:ext cx="8640000" cy="1807199"/>
          </a:xfrm>
          <a:prstGeom prst="rect">
            <a:avLst/>
          </a:prstGeom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ts val="6026"/>
              </a:lnSpc>
              <a:spcAft>
                <a:spcPts val="0"/>
              </a:spcAft>
              <a:buNone/>
            </a:pPr>
            <a:r>
              <a:rPr lang="pt-BR" sz="5400" b="1" dirty="0">
                <a:solidFill>
                  <a:srgbClr val="813709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ÁREA TEMÁTICA E ODS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1664000" y="24335999"/>
            <a:ext cx="9097347" cy="1805970"/>
            <a:chOff x="0" y="0"/>
            <a:chExt cx="48752948" cy="967824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8752947" cy="9678188"/>
            </a:xfrm>
            <a:custGeom>
              <a:avLst/>
              <a:gdLst/>
              <a:ahLst/>
              <a:cxnLst/>
              <a:rect l="l" t="t" r="r" b="b"/>
              <a:pathLst>
                <a:path w="48752947" h="9678188">
                  <a:moveTo>
                    <a:pt x="0" y="0"/>
                  </a:moveTo>
                  <a:lnTo>
                    <a:pt x="48752947" y="0"/>
                  </a:lnTo>
                  <a:lnTo>
                    <a:pt x="48752947" y="9678188"/>
                  </a:lnTo>
                  <a:lnTo>
                    <a:pt x="0" y="96781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0071" r="-20166"/>
              </a:stretch>
            </a:blipFill>
          </p:spPr>
          <p:txBody>
            <a:bodyPr/>
            <a:lstStyle/>
            <a:p>
              <a:endParaRPr lang="pt-BR">
                <a:latin typeface="Montserrat" pitchFamily="2" charset="0"/>
              </a:endParaRP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916000" y="24335999"/>
            <a:ext cx="8640000" cy="1807199"/>
          </a:xfrm>
          <a:prstGeom prst="rect">
            <a:avLst/>
          </a:prstGeom>
        </p:spPr>
        <p:txBody>
          <a:bodyPr lIns="0" tIns="0" rIns="0" bIns="0" rtlCol="0" anchor="ctr">
            <a:normAutofit/>
          </a:bodyPr>
          <a:lstStyle/>
          <a:p>
            <a:pPr algn="l">
              <a:lnSpc>
                <a:spcPts val="6026"/>
              </a:lnSpc>
              <a:spcAft>
                <a:spcPts val="0"/>
              </a:spcAft>
              <a:buNone/>
            </a:pPr>
            <a:r>
              <a:rPr lang="pt-BR" sz="5400" b="1" dirty="0">
                <a:solidFill>
                  <a:srgbClr val="813709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RESULTADOS E DISCUSSÃO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22104000" y="19382400"/>
            <a:ext cx="9097347" cy="1805970"/>
            <a:chOff x="0" y="0"/>
            <a:chExt cx="48752948" cy="967824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8752947" cy="9678188"/>
            </a:xfrm>
            <a:custGeom>
              <a:avLst/>
              <a:gdLst/>
              <a:ahLst/>
              <a:cxnLst/>
              <a:rect l="l" t="t" r="r" b="b"/>
              <a:pathLst>
                <a:path w="48752947" h="9678188">
                  <a:moveTo>
                    <a:pt x="0" y="0"/>
                  </a:moveTo>
                  <a:lnTo>
                    <a:pt x="48752947" y="0"/>
                  </a:lnTo>
                  <a:lnTo>
                    <a:pt x="48752947" y="9678188"/>
                  </a:lnTo>
                  <a:lnTo>
                    <a:pt x="0" y="96781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0071" r="-20166"/>
              </a:stretch>
            </a:blipFill>
          </p:spPr>
          <p:txBody>
            <a:bodyPr/>
            <a:lstStyle/>
            <a:p>
              <a:endParaRPr lang="pt-BR">
                <a:latin typeface="Montserrat" pitchFamily="2" charset="0"/>
              </a:endParaRP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22356000" y="19382400"/>
            <a:ext cx="8640000" cy="1807199"/>
          </a:xfrm>
          <a:prstGeom prst="rect">
            <a:avLst/>
          </a:prstGeom>
        </p:spPr>
        <p:txBody>
          <a:bodyPr lIns="0" tIns="0" rIns="0" bIns="0" rtlCol="0" anchor="ctr">
            <a:normAutofit/>
          </a:bodyPr>
          <a:lstStyle/>
          <a:p>
            <a:pPr algn="l">
              <a:lnSpc>
                <a:spcPts val="6026"/>
              </a:lnSpc>
              <a:spcAft>
                <a:spcPts val="0"/>
              </a:spcAft>
              <a:buNone/>
            </a:pPr>
            <a:r>
              <a:rPr lang="pt-BR" sz="5400" b="1" dirty="0">
                <a:solidFill>
                  <a:srgbClr val="813709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CONCLUSÕES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-4762" y="42654541"/>
            <a:ext cx="32408812" cy="549278"/>
            <a:chOff x="0" y="0"/>
            <a:chExt cx="43211750" cy="73237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3211750" cy="732409"/>
            </a:xfrm>
            <a:custGeom>
              <a:avLst/>
              <a:gdLst/>
              <a:ahLst/>
              <a:cxnLst/>
              <a:rect l="l" t="t" r="r" b="b"/>
              <a:pathLst>
                <a:path w="43211750" h="732409">
                  <a:moveTo>
                    <a:pt x="0" y="0"/>
                  </a:moveTo>
                  <a:lnTo>
                    <a:pt x="43211750" y="0"/>
                  </a:lnTo>
                  <a:lnTo>
                    <a:pt x="43211750" y="732409"/>
                  </a:lnTo>
                  <a:lnTo>
                    <a:pt x="0" y="732409"/>
                  </a:lnTo>
                  <a:close/>
                </a:path>
              </a:pathLst>
            </a:custGeom>
            <a:solidFill>
              <a:srgbClr val="861141"/>
            </a:solidFill>
            <a:ln w="9525" cap="sq">
              <a:solidFill>
                <a:srgbClr val="50200C"/>
              </a:solidFill>
              <a:prstDash val="solid"/>
              <a:miter/>
            </a:ln>
          </p:spPr>
          <p:txBody>
            <a:bodyPr/>
            <a:lstStyle/>
            <a:p>
              <a:endParaRPr lang="pt-BR">
                <a:latin typeface="Montserrat" pitchFamily="2" charset="0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24000" y="17611200"/>
            <a:ext cx="9097347" cy="1805970"/>
            <a:chOff x="0" y="0"/>
            <a:chExt cx="48752948" cy="967824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8752947" cy="9678188"/>
            </a:xfrm>
            <a:custGeom>
              <a:avLst/>
              <a:gdLst/>
              <a:ahLst/>
              <a:cxnLst/>
              <a:rect l="l" t="t" r="r" b="b"/>
              <a:pathLst>
                <a:path w="48752947" h="9678188">
                  <a:moveTo>
                    <a:pt x="0" y="0"/>
                  </a:moveTo>
                  <a:lnTo>
                    <a:pt x="48752947" y="0"/>
                  </a:lnTo>
                  <a:lnTo>
                    <a:pt x="48752947" y="9678188"/>
                  </a:lnTo>
                  <a:lnTo>
                    <a:pt x="0" y="96781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0071" r="-20166"/>
              </a:stretch>
            </a:blipFill>
          </p:spPr>
          <p:txBody>
            <a:bodyPr/>
            <a:lstStyle/>
            <a:p>
              <a:endParaRPr lang="pt-BR">
                <a:latin typeface="Montserrat" pitchFamily="2" charset="0"/>
              </a:endParaRP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475999" y="17611200"/>
            <a:ext cx="8640000" cy="1807199"/>
          </a:xfrm>
          <a:prstGeom prst="rect">
            <a:avLst/>
          </a:prstGeom>
        </p:spPr>
        <p:txBody>
          <a:bodyPr lIns="0" tIns="0" rIns="0" bIns="0" rtlCol="0" anchor="ctr">
            <a:normAutofit/>
          </a:bodyPr>
          <a:lstStyle/>
          <a:p>
            <a:pPr algn="l">
              <a:lnSpc>
                <a:spcPts val="6026"/>
              </a:lnSpc>
              <a:spcAft>
                <a:spcPts val="0"/>
              </a:spcAft>
              <a:buNone/>
            </a:pPr>
            <a:r>
              <a:rPr lang="pt-BR" sz="5400" b="1" dirty="0">
                <a:solidFill>
                  <a:srgbClr val="813709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INTRODUÇÃO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224000" y="28166400"/>
            <a:ext cx="9097347" cy="1805970"/>
            <a:chOff x="0" y="0"/>
            <a:chExt cx="48752948" cy="967824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8752947" cy="9678188"/>
            </a:xfrm>
            <a:custGeom>
              <a:avLst/>
              <a:gdLst/>
              <a:ahLst/>
              <a:cxnLst/>
              <a:rect l="l" t="t" r="r" b="b"/>
              <a:pathLst>
                <a:path w="48752947" h="9678188">
                  <a:moveTo>
                    <a:pt x="0" y="0"/>
                  </a:moveTo>
                  <a:lnTo>
                    <a:pt x="48752947" y="0"/>
                  </a:lnTo>
                  <a:lnTo>
                    <a:pt x="48752947" y="9678188"/>
                  </a:lnTo>
                  <a:lnTo>
                    <a:pt x="0" y="96781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0071" r="-20166"/>
              </a:stretch>
            </a:blipFill>
          </p:spPr>
          <p:txBody>
            <a:bodyPr/>
            <a:lstStyle/>
            <a:p>
              <a:endParaRPr lang="pt-BR">
                <a:latin typeface="Montserrat" pitchFamily="2" charset="0"/>
              </a:endParaRP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475999" y="28166400"/>
            <a:ext cx="8640000" cy="1807199"/>
          </a:xfrm>
          <a:prstGeom prst="rect">
            <a:avLst/>
          </a:prstGeom>
        </p:spPr>
        <p:txBody>
          <a:bodyPr lIns="0" tIns="0" rIns="0" bIns="0" rtlCol="0" anchor="ctr">
            <a:normAutofit/>
          </a:bodyPr>
          <a:lstStyle/>
          <a:p>
            <a:pPr algn="l">
              <a:lnSpc>
                <a:spcPts val="6026"/>
              </a:lnSpc>
              <a:spcAft>
                <a:spcPts val="0"/>
              </a:spcAft>
              <a:buNone/>
            </a:pPr>
            <a:r>
              <a:rPr lang="pt-BR" sz="5400" b="1" dirty="0">
                <a:solidFill>
                  <a:srgbClr val="813709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MATERIAL E MÉTODOS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22104000" y="34300800"/>
            <a:ext cx="9097347" cy="1805970"/>
            <a:chOff x="0" y="0"/>
            <a:chExt cx="48752948" cy="967824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8752947" cy="9678188"/>
            </a:xfrm>
            <a:custGeom>
              <a:avLst/>
              <a:gdLst/>
              <a:ahLst/>
              <a:cxnLst/>
              <a:rect l="l" t="t" r="r" b="b"/>
              <a:pathLst>
                <a:path w="48752947" h="9678188">
                  <a:moveTo>
                    <a:pt x="0" y="0"/>
                  </a:moveTo>
                  <a:lnTo>
                    <a:pt x="48752947" y="0"/>
                  </a:lnTo>
                  <a:lnTo>
                    <a:pt x="48752947" y="9678188"/>
                  </a:lnTo>
                  <a:lnTo>
                    <a:pt x="0" y="96781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0071" r="-20166"/>
              </a:stretch>
            </a:blipFill>
          </p:spPr>
          <p:txBody>
            <a:bodyPr/>
            <a:lstStyle/>
            <a:p>
              <a:endParaRPr lang="pt-BR">
                <a:latin typeface="Montserrat" pitchFamily="2" charset="0"/>
              </a:endParaRP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22356000" y="34300800"/>
            <a:ext cx="8640000" cy="1807199"/>
          </a:xfrm>
          <a:prstGeom prst="rect">
            <a:avLst/>
          </a:prstGeom>
        </p:spPr>
        <p:txBody>
          <a:bodyPr lIns="0" tIns="0" rIns="0" bIns="0" rtlCol="0" anchor="ctr">
            <a:normAutofit/>
          </a:bodyPr>
          <a:lstStyle/>
          <a:p>
            <a:pPr algn="l">
              <a:lnSpc>
                <a:spcPts val="6026"/>
              </a:lnSpc>
              <a:spcAft>
                <a:spcPts val="0"/>
              </a:spcAft>
              <a:buNone/>
            </a:pPr>
            <a:r>
              <a:rPr lang="pt-BR" sz="5400" b="1" dirty="0">
                <a:solidFill>
                  <a:srgbClr val="813709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REFERÊNCIAS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22104000" y="26697600"/>
            <a:ext cx="9097347" cy="1805970"/>
            <a:chOff x="0" y="0"/>
            <a:chExt cx="48752948" cy="967824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8752947" cy="9678188"/>
            </a:xfrm>
            <a:custGeom>
              <a:avLst/>
              <a:gdLst/>
              <a:ahLst/>
              <a:cxnLst/>
              <a:rect l="l" t="t" r="r" b="b"/>
              <a:pathLst>
                <a:path w="48752947" h="9678188">
                  <a:moveTo>
                    <a:pt x="0" y="0"/>
                  </a:moveTo>
                  <a:lnTo>
                    <a:pt x="48752947" y="0"/>
                  </a:lnTo>
                  <a:lnTo>
                    <a:pt x="48752947" y="9678188"/>
                  </a:lnTo>
                  <a:lnTo>
                    <a:pt x="0" y="96781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0071" r="-20166"/>
              </a:stretch>
            </a:blipFill>
          </p:spPr>
          <p:txBody>
            <a:bodyPr/>
            <a:lstStyle/>
            <a:p>
              <a:endParaRPr lang="pt-BR">
                <a:latin typeface="Montserrat" pitchFamily="2" charset="0"/>
              </a:endParaRP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22356000" y="26697600"/>
            <a:ext cx="8640000" cy="1807199"/>
          </a:xfrm>
          <a:prstGeom prst="rect">
            <a:avLst/>
          </a:prstGeom>
        </p:spPr>
        <p:txBody>
          <a:bodyPr lIns="0" tIns="0" rIns="0" bIns="0" rtlCol="0" anchor="ctr">
            <a:normAutofit/>
          </a:bodyPr>
          <a:lstStyle/>
          <a:p>
            <a:pPr algn="l">
              <a:lnSpc>
                <a:spcPts val="6026"/>
              </a:lnSpc>
              <a:spcAft>
                <a:spcPts val="0"/>
              </a:spcAft>
              <a:buNone/>
            </a:pPr>
            <a:r>
              <a:rPr lang="pt-BR" sz="5400" b="1" dirty="0">
                <a:solidFill>
                  <a:srgbClr val="813709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AGRADECIMENTOS</a:t>
            </a:r>
          </a:p>
        </p:txBody>
      </p:sp>
      <p:sp>
        <p:nvSpPr>
          <p:cNvPr id="201" name="Area ODS"/>
          <p:cNvSpPr txBox="1"/>
          <p:nvPr/>
        </p:nvSpPr>
        <p:spPr>
          <a:xfrm>
            <a:off x="1224000" y="14227200"/>
            <a:ext cx="9108000" cy="309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017"/>
              </a:lnSpc>
              <a:spcAft>
                <a:spcPts val="500"/>
              </a:spcAft>
              <a:buNone/>
            </a:pPr>
            <a:r>
              <a:rPr lang="pt-BR" sz="3600" b="1" dirty="0">
                <a:solidFill>
                  <a:srgbClr val="000000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 xml:space="preserve">Área/Subárea: </a:t>
            </a:r>
            <a:r>
              <a:rPr lang="pt-BR" sz="36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Área 01 – Ciências Exatas e da Terra / Ciência da Computação</a:t>
            </a:r>
          </a:p>
          <a:p>
            <a:pPr algn="l">
              <a:lnSpc>
                <a:spcPts val="4017"/>
              </a:lnSpc>
              <a:spcAft>
                <a:spcPts val="0"/>
              </a:spcAft>
              <a:buNone/>
            </a:pPr>
            <a:r>
              <a:rPr lang="pt-BR" sz="3600" b="1" dirty="0">
                <a:solidFill>
                  <a:srgbClr val="000000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 xml:space="preserve">ODS: </a:t>
            </a:r>
            <a:r>
              <a:rPr lang="pt-BR" sz="36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ODS04 – Educação de qualidade</a:t>
            </a:r>
          </a:p>
        </p:txBody>
      </p:sp>
      <p:sp>
        <p:nvSpPr>
          <p:cNvPr id="202" name="Introducao"/>
          <p:cNvSpPr txBox="1"/>
          <p:nvPr/>
        </p:nvSpPr>
        <p:spPr>
          <a:xfrm>
            <a:off x="1224000" y="19742400"/>
            <a:ext cx="9108000" cy="813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017"/>
              </a:lnSpc>
              <a:spcAft>
                <a:spcPts val="800"/>
              </a:spcAft>
              <a:buNone/>
            </a:pPr>
            <a:r>
              <a:rPr lang="pt-BR" sz="36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O VisuAlg, principal ferramenta de ensino de Portugol no Brasil [Alves e Lima 2018], funciona só no Windows, exige instalação e não é atualizado há anos.</a:t>
            </a:r>
          </a:p>
          <a:p>
            <a:pPr algn="l">
              <a:lnSpc>
                <a:spcPts val="4017"/>
              </a:lnSpc>
              <a:spcAft>
                <a:spcPts val="800"/>
              </a:spcAft>
              <a:buNone/>
            </a:pPr>
            <a:r>
              <a:rPr lang="pt-BR" sz="36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No ensino técnico público, a falta de computadores pessoais é a principal barreira, e o smartphone costuma ser o único recurso para estudar fora da escola.</a:t>
            </a:r>
          </a:p>
          <a:p>
            <a:pPr algn="l">
              <a:lnSpc>
                <a:spcPts val="4017"/>
              </a:lnSpc>
              <a:spcAft>
                <a:spcPts val="0"/>
              </a:spcAft>
              <a:buNone/>
            </a:pPr>
            <a:r>
              <a:rPr lang="pt-BR" sz="3600" b="1" dirty="0">
                <a:solidFill>
                  <a:srgbClr val="000000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 xml:space="preserve">Objetivos: </a:t>
            </a:r>
            <a:r>
              <a:rPr lang="pt-BR" sz="36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praticar algoritmos em qualquer navegador e dispositivo, sem instalação, com compatibilidade completa com o VisuAlg, depuração e erros em português.</a:t>
            </a:r>
          </a:p>
        </p:txBody>
      </p:sp>
      <p:sp>
        <p:nvSpPr>
          <p:cNvPr id="203" name="Metodos"/>
          <p:cNvSpPr txBox="1"/>
          <p:nvPr/>
        </p:nvSpPr>
        <p:spPr>
          <a:xfrm>
            <a:off x="1224000" y="30297600"/>
            <a:ext cx="9108000" cy="18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017"/>
              </a:lnSpc>
              <a:spcAft>
                <a:spcPts val="0"/>
              </a:spcAft>
              <a:buNone/>
            </a:pPr>
            <a:r>
              <a:rPr lang="pt-BR" sz="36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Desenvolvimento incremental e iterativo [Schwaber e Beedle 2004], em onze versões:</a:t>
            </a:r>
          </a:p>
        </p:txBody>
      </p:sp>
      <p:sp>
        <p:nvSpPr>
          <p:cNvPr id="204" name="Versao V1"/>
          <p:cNvSpPr/>
          <p:nvPr/>
        </p:nvSpPr>
        <p:spPr>
          <a:xfrm>
            <a:off x="1224000" y="32097600"/>
            <a:ext cx="1584000" cy="936000"/>
          </a:xfrm>
          <a:prstGeom prst="roundRect">
            <a:avLst>
              <a:gd name="adj" fmla="val 12000"/>
            </a:avLst>
          </a:prstGeom>
          <a:solidFill>
            <a:srgbClr val="813709"/>
          </a:solidFill>
          <a:ln>
            <a:noFill/>
          </a:ln>
        </p:spPr>
        <p:txBody>
          <a:bodyPr wrap="square" lIns="108000" tIns="72000" rIns="108000" bIns="72000" anchor="ctr">
            <a:noAutofit/>
          </a:bodyPr>
          <a:lstStyle/>
          <a:p>
            <a:pPr algn="ctr">
              <a:lnSpc>
                <a:spcPts val="3520"/>
              </a:lnSpc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FFFF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V1</a:t>
            </a:r>
          </a:p>
        </p:txBody>
      </p:sp>
      <p:sp>
        <p:nvSpPr>
          <p:cNvPr id="205" name="Desc V1"/>
          <p:cNvSpPr txBox="1"/>
          <p:nvPr/>
        </p:nvSpPr>
        <p:spPr>
          <a:xfrm>
            <a:off x="3024000" y="32097600"/>
            <a:ext cx="7307999" cy="93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3500"/>
              </a:lnSpc>
              <a:spcAft>
                <a:spcPts val="0"/>
              </a:spcAft>
              <a:buNone/>
            </a:pPr>
            <a:r>
              <a:rPr lang="pt-BR" sz="32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parser, interpretador e controle</a:t>
            </a:r>
          </a:p>
        </p:txBody>
      </p:sp>
      <p:cxnSp>
        <p:nvCxnSpPr>
          <p:cNvPr id="206" name="Seta"/>
          <p:cNvCxnSpPr/>
          <p:nvPr/>
        </p:nvCxnSpPr>
        <p:spPr>
          <a:xfrm>
            <a:off x="2015999" y="33051599"/>
            <a:ext cx="0" cy="216000"/>
          </a:xfrm>
          <a:prstGeom prst="straightConnector1">
            <a:avLst/>
          </a:prstGeom>
          <a:ln w="38100">
            <a:solidFill>
              <a:srgbClr val="813709"/>
            </a:solidFill>
            <a:tailEnd type="triangle" w="med" len="med"/>
          </a:ln>
        </p:spPr>
      </p:cxnSp>
      <p:sp>
        <p:nvSpPr>
          <p:cNvPr id="207" name="Versao V2"/>
          <p:cNvSpPr/>
          <p:nvPr/>
        </p:nvSpPr>
        <p:spPr>
          <a:xfrm>
            <a:off x="1224000" y="33285599"/>
            <a:ext cx="1584000" cy="936000"/>
          </a:xfrm>
          <a:prstGeom prst="roundRect">
            <a:avLst>
              <a:gd name="adj" fmla="val 12000"/>
            </a:avLst>
          </a:prstGeom>
          <a:solidFill>
            <a:srgbClr val="813709"/>
          </a:solidFill>
          <a:ln>
            <a:noFill/>
          </a:ln>
        </p:spPr>
        <p:txBody>
          <a:bodyPr wrap="square" lIns="108000" tIns="72000" rIns="108000" bIns="72000" anchor="ctr">
            <a:noAutofit/>
          </a:bodyPr>
          <a:lstStyle/>
          <a:p>
            <a:pPr algn="ctr">
              <a:lnSpc>
                <a:spcPts val="3520"/>
              </a:lnSpc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FFFF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V2</a:t>
            </a:r>
          </a:p>
        </p:txBody>
      </p:sp>
      <p:sp>
        <p:nvSpPr>
          <p:cNvPr id="208" name="Desc V2"/>
          <p:cNvSpPr txBox="1"/>
          <p:nvPr/>
        </p:nvSpPr>
        <p:spPr>
          <a:xfrm>
            <a:off x="3024000" y="33285599"/>
            <a:ext cx="7307999" cy="93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3500"/>
              </a:lnSpc>
              <a:spcAft>
                <a:spcPts val="0"/>
              </a:spcAft>
              <a:buNone/>
            </a:pPr>
            <a:r>
              <a:rPr lang="pt-BR" sz="32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funções matemáticas e de texto</a:t>
            </a:r>
          </a:p>
        </p:txBody>
      </p:sp>
      <p:cxnSp>
        <p:nvCxnSpPr>
          <p:cNvPr id="209" name="Seta"/>
          <p:cNvCxnSpPr/>
          <p:nvPr/>
        </p:nvCxnSpPr>
        <p:spPr>
          <a:xfrm>
            <a:off x="2015999" y="34239599"/>
            <a:ext cx="0" cy="216000"/>
          </a:xfrm>
          <a:prstGeom prst="straightConnector1">
            <a:avLst/>
          </a:prstGeom>
          <a:ln w="38100">
            <a:solidFill>
              <a:srgbClr val="813709"/>
            </a:solidFill>
            <a:tailEnd type="triangle" w="med" len="med"/>
          </a:ln>
        </p:spPr>
      </p:cxnSp>
      <p:sp>
        <p:nvSpPr>
          <p:cNvPr id="210" name="Versao V3"/>
          <p:cNvSpPr/>
          <p:nvPr/>
        </p:nvSpPr>
        <p:spPr>
          <a:xfrm>
            <a:off x="1224000" y="34473600"/>
            <a:ext cx="1584000" cy="936000"/>
          </a:xfrm>
          <a:prstGeom prst="roundRect">
            <a:avLst>
              <a:gd name="adj" fmla="val 12000"/>
            </a:avLst>
          </a:prstGeom>
          <a:solidFill>
            <a:srgbClr val="813709"/>
          </a:solidFill>
          <a:ln>
            <a:noFill/>
          </a:ln>
        </p:spPr>
        <p:txBody>
          <a:bodyPr wrap="square" lIns="108000" tIns="72000" rIns="108000" bIns="72000" anchor="ctr">
            <a:noAutofit/>
          </a:bodyPr>
          <a:lstStyle/>
          <a:p>
            <a:pPr algn="ctr">
              <a:lnSpc>
                <a:spcPts val="3520"/>
              </a:lnSpc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FFFF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V3</a:t>
            </a:r>
          </a:p>
        </p:txBody>
      </p:sp>
      <p:sp>
        <p:nvSpPr>
          <p:cNvPr id="211" name="Desc V3"/>
          <p:cNvSpPr txBox="1"/>
          <p:nvPr/>
        </p:nvSpPr>
        <p:spPr>
          <a:xfrm>
            <a:off x="3024000" y="34473600"/>
            <a:ext cx="7307999" cy="93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3500"/>
              </a:lnSpc>
              <a:spcAft>
                <a:spcPts val="0"/>
              </a:spcAft>
              <a:buNone/>
            </a:pPr>
            <a:r>
              <a:rPr lang="pt-BR" sz="32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subalgoritmos, recursão e depuração</a:t>
            </a:r>
          </a:p>
        </p:txBody>
      </p:sp>
      <p:cxnSp>
        <p:nvCxnSpPr>
          <p:cNvPr id="212" name="Seta"/>
          <p:cNvCxnSpPr/>
          <p:nvPr/>
        </p:nvCxnSpPr>
        <p:spPr>
          <a:xfrm>
            <a:off x="2015999" y="35427599"/>
            <a:ext cx="0" cy="216000"/>
          </a:xfrm>
          <a:prstGeom prst="straightConnector1">
            <a:avLst/>
          </a:prstGeom>
          <a:ln w="38100">
            <a:solidFill>
              <a:srgbClr val="813709"/>
            </a:solidFill>
            <a:tailEnd type="triangle" w="med" len="med"/>
          </a:ln>
        </p:spPr>
      </p:cxnSp>
      <p:sp>
        <p:nvSpPr>
          <p:cNvPr id="213" name="Versao V4"/>
          <p:cNvSpPr/>
          <p:nvPr/>
        </p:nvSpPr>
        <p:spPr>
          <a:xfrm>
            <a:off x="1224000" y="35661599"/>
            <a:ext cx="1584000" cy="936000"/>
          </a:xfrm>
          <a:prstGeom prst="roundRect">
            <a:avLst>
              <a:gd name="adj" fmla="val 12000"/>
            </a:avLst>
          </a:prstGeom>
          <a:solidFill>
            <a:srgbClr val="813709"/>
          </a:solidFill>
          <a:ln>
            <a:noFill/>
          </a:ln>
        </p:spPr>
        <p:txBody>
          <a:bodyPr wrap="square" lIns="108000" tIns="72000" rIns="108000" bIns="72000" anchor="ctr">
            <a:noAutofit/>
          </a:bodyPr>
          <a:lstStyle/>
          <a:p>
            <a:pPr algn="ctr">
              <a:lnSpc>
                <a:spcPts val="3520"/>
              </a:lnSpc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FFFF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V4</a:t>
            </a:r>
          </a:p>
        </p:txBody>
      </p:sp>
      <p:sp>
        <p:nvSpPr>
          <p:cNvPr id="214" name="Desc V4"/>
          <p:cNvSpPr txBox="1"/>
          <p:nvPr/>
        </p:nvSpPr>
        <p:spPr>
          <a:xfrm>
            <a:off x="3024000" y="35661599"/>
            <a:ext cx="7307999" cy="93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3500"/>
              </a:lnSpc>
              <a:spcAft>
                <a:spcPts val="0"/>
              </a:spcAft>
              <a:buNone/>
            </a:pPr>
            <a:r>
              <a:rPr lang="pt-BR" sz="32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comandos especiais e vetores</a:t>
            </a:r>
          </a:p>
        </p:txBody>
      </p:sp>
      <p:cxnSp>
        <p:nvCxnSpPr>
          <p:cNvPr id="215" name="Seta"/>
          <p:cNvCxnSpPr/>
          <p:nvPr/>
        </p:nvCxnSpPr>
        <p:spPr>
          <a:xfrm>
            <a:off x="2015999" y="36615599"/>
            <a:ext cx="0" cy="216000"/>
          </a:xfrm>
          <a:prstGeom prst="straightConnector1">
            <a:avLst/>
          </a:prstGeom>
          <a:ln w="38100">
            <a:solidFill>
              <a:srgbClr val="813709"/>
            </a:solidFill>
            <a:tailEnd type="triangle" w="med" len="med"/>
          </a:ln>
        </p:spPr>
      </p:cxnSp>
      <p:sp>
        <p:nvSpPr>
          <p:cNvPr id="216" name="Versao V5"/>
          <p:cNvSpPr/>
          <p:nvPr/>
        </p:nvSpPr>
        <p:spPr>
          <a:xfrm>
            <a:off x="1224000" y="36849599"/>
            <a:ext cx="1584000" cy="936000"/>
          </a:xfrm>
          <a:prstGeom prst="roundRect">
            <a:avLst>
              <a:gd name="adj" fmla="val 12000"/>
            </a:avLst>
          </a:prstGeom>
          <a:solidFill>
            <a:srgbClr val="813709"/>
          </a:solidFill>
          <a:ln>
            <a:noFill/>
          </a:ln>
        </p:spPr>
        <p:txBody>
          <a:bodyPr wrap="square" lIns="108000" tIns="72000" rIns="108000" bIns="72000" anchor="ctr">
            <a:noAutofit/>
          </a:bodyPr>
          <a:lstStyle/>
          <a:p>
            <a:pPr algn="ctr">
              <a:lnSpc>
                <a:spcPts val="3520"/>
              </a:lnSpc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FFFF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V5</a:t>
            </a:r>
          </a:p>
        </p:txBody>
      </p:sp>
      <p:sp>
        <p:nvSpPr>
          <p:cNvPr id="217" name="Desc V5"/>
          <p:cNvSpPr txBox="1"/>
          <p:nvPr/>
        </p:nvSpPr>
        <p:spPr>
          <a:xfrm>
            <a:off x="3024000" y="36849599"/>
            <a:ext cx="7307999" cy="93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3500"/>
              </a:lnSpc>
              <a:spcAft>
                <a:spcPts val="0"/>
              </a:spcAft>
              <a:buNone/>
            </a:pPr>
            <a:r>
              <a:rPr lang="pt-BR" sz="32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Monaco Editor e layout responsivo</a:t>
            </a:r>
          </a:p>
        </p:txBody>
      </p:sp>
      <p:cxnSp>
        <p:nvCxnSpPr>
          <p:cNvPr id="218" name="Seta"/>
          <p:cNvCxnSpPr/>
          <p:nvPr/>
        </p:nvCxnSpPr>
        <p:spPr>
          <a:xfrm>
            <a:off x="2015999" y="37803599"/>
            <a:ext cx="0" cy="216000"/>
          </a:xfrm>
          <a:prstGeom prst="straightConnector1">
            <a:avLst/>
          </a:prstGeom>
          <a:ln w="38100">
            <a:solidFill>
              <a:srgbClr val="813709"/>
            </a:solidFill>
            <a:tailEnd type="triangle" w="med" len="med"/>
          </a:ln>
        </p:spPr>
      </p:cxnSp>
      <p:sp>
        <p:nvSpPr>
          <p:cNvPr id="219" name="Versao V6–11"/>
          <p:cNvSpPr/>
          <p:nvPr/>
        </p:nvSpPr>
        <p:spPr>
          <a:xfrm>
            <a:off x="1224000" y="38037599"/>
            <a:ext cx="1584000" cy="1512000"/>
          </a:xfrm>
          <a:prstGeom prst="roundRect">
            <a:avLst>
              <a:gd name="adj" fmla="val 12000"/>
            </a:avLst>
          </a:prstGeom>
          <a:solidFill>
            <a:srgbClr val="813709"/>
          </a:solidFill>
          <a:ln>
            <a:noFill/>
          </a:ln>
        </p:spPr>
        <p:txBody>
          <a:bodyPr wrap="square" lIns="108000" tIns="72000" rIns="108000" bIns="72000" anchor="ctr">
            <a:noAutofit/>
          </a:bodyPr>
          <a:lstStyle/>
          <a:p>
            <a:pPr algn="ctr">
              <a:lnSpc>
                <a:spcPts val="3300"/>
              </a:lnSpc>
              <a:spcAft>
                <a:spcPts val="0"/>
              </a:spcAft>
              <a:buNone/>
            </a:pPr>
            <a:r>
              <a:rPr lang="pt-BR" sz="3000" b="1" dirty="0">
                <a:solidFill>
                  <a:srgbClr val="FFFFFF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V6–11</a:t>
            </a:r>
          </a:p>
        </p:txBody>
      </p:sp>
      <p:sp>
        <p:nvSpPr>
          <p:cNvPr id="220" name="Desc V6–11"/>
          <p:cNvSpPr txBox="1"/>
          <p:nvPr/>
        </p:nvSpPr>
        <p:spPr>
          <a:xfrm>
            <a:off x="3024000" y="38037599"/>
            <a:ext cx="7307999" cy="1512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3500"/>
              </a:lnSpc>
              <a:spcAft>
                <a:spcPts val="0"/>
              </a:spcAft>
              <a:buNone/>
            </a:pPr>
            <a:r>
              <a:rPr lang="pt-BR" sz="32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C, C++, Python, JavaScript e Java; nuvem (Google/GitHub), saída ANSI e PWA offline</a:t>
            </a:r>
          </a:p>
        </p:txBody>
      </p:sp>
      <p:sp>
        <p:nvSpPr>
          <p:cNvPr id="221" name="Validacao"/>
          <p:cNvSpPr txBox="1"/>
          <p:nvPr/>
        </p:nvSpPr>
        <p:spPr>
          <a:xfrm>
            <a:off x="1224000" y="39909599"/>
            <a:ext cx="9108000" cy="228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017"/>
              </a:lnSpc>
              <a:spcAft>
                <a:spcPts val="0"/>
              </a:spcAft>
              <a:buNone/>
            </a:pPr>
            <a:r>
              <a:rPr lang="pt-BR" sz="36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Até a V5, cada versão foi validada contra algoritmos do VisuAlg em 40 categorias de recursos.</a:t>
            </a:r>
          </a:p>
        </p:txBody>
      </p:sp>
      <p:sp>
        <p:nvSpPr>
          <p:cNvPr id="222" name="Linguagens intro"/>
          <p:cNvSpPr txBox="1"/>
          <p:nvPr/>
        </p:nvSpPr>
        <p:spPr>
          <a:xfrm>
            <a:off x="11664000" y="12096000"/>
            <a:ext cx="9108000" cy="2592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017"/>
              </a:lnSpc>
              <a:spcAft>
                <a:spcPts val="0"/>
              </a:spcAft>
              <a:buNone/>
            </a:pPr>
            <a:r>
              <a:rPr lang="pt-BR" sz="36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A versão atual roda seis linguagens no navegador, com depurador passo a passo, erros em português e leitura de dados interativa:</a:t>
            </a:r>
          </a:p>
        </p:txBody>
      </p:sp>
      <p:sp>
        <p:nvSpPr>
          <p:cNvPr id="223" name="Ling Portugol"/>
          <p:cNvSpPr/>
          <p:nvPr/>
        </p:nvSpPr>
        <p:spPr>
          <a:xfrm>
            <a:off x="11664000" y="14688000"/>
            <a:ext cx="2736000" cy="1080000"/>
          </a:xfrm>
          <a:prstGeom prst="roundRect">
            <a:avLst>
              <a:gd name="adj" fmla="val 12000"/>
            </a:avLst>
          </a:prstGeom>
          <a:solidFill>
            <a:srgbClr val="813709"/>
          </a:solidFill>
          <a:ln>
            <a:noFill/>
          </a:ln>
        </p:spPr>
        <p:txBody>
          <a:bodyPr wrap="square" lIns="108000" tIns="72000" rIns="108000" bIns="72000" anchor="ctr">
            <a:noAutofit/>
          </a:bodyPr>
          <a:lstStyle/>
          <a:p>
            <a:pPr algn="ctr">
              <a:lnSpc>
                <a:spcPts val="3300"/>
              </a:lnSpc>
              <a:spcAft>
                <a:spcPts val="0"/>
              </a:spcAft>
              <a:buNone/>
            </a:pPr>
            <a:r>
              <a:rPr lang="pt-BR" sz="3000" b="1" dirty="0">
                <a:solidFill>
                  <a:srgbClr val="FFFFFF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Portugol</a:t>
            </a:r>
          </a:p>
        </p:txBody>
      </p:sp>
      <p:sp>
        <p:nvSpPr>
          <p:cNvPr id="224" name="Desc Portugol"/>
          <p:cNvSpPr txBox="1"/>
          <p:nvPr/>
        </p:nvSpPr>
        <p:spPr>
          <a:xfrm>
            <a:off x="14616000" y="14688000"/>
            <a:ext cx="6156000" cy="10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3500"/>
              </a:lnSpc>
              <a:spcAft>
                <a:spcPts val="0"/>
              </a:spcAft>
              <a:buNone/>
            </a:pPr>
            <a:r>
              <a:rPr lang="pt-BR" sz="32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vetores, matrizes, registros e funções</a:t>
            </a:r>
          </a:p>
        </p:txBody>
      </p:sp>
      <p:sp>
        <p:nvSpPr>
          <p:cNvPr id="225" name="Ling C / C++"/>
          <p:cNvSpPr/>
          <p:nvPr/>
        </p:nvSpPr>
        <p:spPr>
          <a:xfrm>
            <a:off x="11664000" y="15912000"/>
            <a:ext cx="2736000" cy="1080000"/>
          </a:xfrm>
          <a:prstGeom prst="roundRect">
            <a:avLst>
              <a:gd name="adj" fmla="val 12000"/>
            </a:avLst>
          </a:prstGeom>
          <a:solidFill>
            <a:srgbClr val="813709"/>
          </a:solidFill>
          <a:ln>
            <a:noFill/>
          </a:ln>
        </p:spPr>
        <p:txBody>
          <a:bodyPr wrap="square" lIns="108000" tIns="72000" rIns="108000" bIns="72000" anchor="ctr">
            <a:noAutofit/>
          </a:bodyPr>
          <a:lstStyle/>
          <a:p>
            <a:pPr algn="ctr">
              <a:lnSpc>
                <a:spcPts val="3300"/>
              </a:lnSpc>
              <a:spcAft>
                <a:spcPts val="0"/>
              </a:spcAft>
              <a:buNone/>
            </a:pPr>
            <a:r>
              <a:rPr lang="pt-BR" sz="3000" b="1" dirty="0">
                <a:solidFill>
                  <a:srgbClr val="FFFFFF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C / C++</a:t>
            </a:r>
          </a:p>
        </p:txBody>
      </p:sp>
      <p:sp>
        <p:nvSpPr>
          <p:cNvPr id="226" name="Desc C / C++"/>
          <p:cNvSpPr txBox="1"/>
          <p:nvPr/>
        </p:nvSpPr>
        <p:spPr>
          <a:xfrm>
            <a:off x="14616000" y="15912000"/>
            <a:ext cx="6156000" cy="10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3500"/>
              </a:lnSpc>
              <a:spcAft>
                <a:spcPts val="0"/>
              </a:spcAft>
              <a:buNone/>
            </a:pPr>
            <a:r>
              <a:rPr lang="pt-BR" sz="32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ponteiros, structs e arquivos</a:t>
            </a:r>
          </a:p>
        </p:txBody>
      </p:sp>
      <p:sp>
        <p:nvSpPr>
          <p:cNvPr id="227" name="Ling Python"/>
          <p:cNvSpPr/>
          <p:nvPr/>
        </p:nvSpPr>
        <p:spPr>
          <a:xfrm>
            <a:off x="11664000" y="17136000"/>
            <a:ext cx="2736000" cy="1080000"/>
          </a:xfrm>
          <a:prstGeom prst="roundRect">
            <a:avLst>
              <a:gd name="adj" fmla="val 12000"/>
            </a:avLst>
          </a:prstGeom>
          <a:solidFill>
            <a:srgbClr val="813709"/>
          </a:solidFill>
          <a:ln>
            <a:noFill/>
          </a:ln>
        </p:spPr>
        <p:txBody>
          <a:bodyPr wrap="square" lIns="108000" tIns="72000" rIns="108000" bIns="72000" anchor="ctr">
            <a:noAutofit/>
          </a:bodyPr>
          <a:lstStyle/>
          <a:p>
            <a:pPr algn="ctr">
              <a:lnSpc>
                <a:spcPts val="3300"/>
              </a:lnSpc>
              <a:spcAft>
                <a:spcPts val="0"/>
              </a:spcAft>
              <a:buNone/>
            </a:pPr>
            <a:r>
              <a:rPr lang="pt-BR" sz="3000" b="1" dirty="0">
                <a:solidFill>
                  <a:srgbClr val="FFFFFF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Python</a:t>
            </a:r>
          </a:p>
        </p:txBody>
      </p:sp>
      <p:sp>
        <p:nvSpPr>
          <p:cNvPr id="228" name="Desc Python"/>
          <p:cNvSpPr txBox="1"/>
          <p:nvPr/>
        </p:nvSpPr>
        <p:spPr>
          <a:xfrm>
            <a:off x="14616000" y="17136000"/>
            <a:ext cx="6156000" cy="10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3500"/>
              </a:lnSpc>
              <a:spcAft>
                <a:spcPts val="0"/>
              </a:spcAft>
              <a:buNone/>
            </a:pPr>
            <a:r>
              <a:rPr lang="pt-BR" sz="32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classes, geradores e decoradores</a:t>
            </a:r>
          </a:p>
        </p:txBody>
      </p:sp>
      <p:sp>
        <p:nvSpPr>
          <p:cNvPr id="229" name="Ling Java"/>
          <p:cNvSpPr/>
          <p:nvPr/>
        </p:nvSpPr>
        <p:spPr>
          <a:xfrm>
            <a:off x="11664000" y="18360000"/>
            <a:ext cx="2736000" cy="1080000"/>
          </a:xfrm>
          <a:prstGeom prst="roundRect">
            <a:avLst>
              <a:gd name="adj" fmla="val 12000"/>
            </a:avLst>
          </a:prstGeom>
          <a:solidFill>
            <a:srgbClr val="813709"/>
          </a:solidFill>
          <a:ln>
            <a:noFill/>
          </a:ln>
        </p:spPr>
        <p:txBody>
          <a:bodyPr wrap="square" lIns="108000" tIns="72000" rIns="108000" bIns="72000" anchor="ctr">
            <a:noAutofit/>
          </a:bodyPr>
          <a:lstStyle/>
          <a:p>
            <a:pPr algn="ctr">
              <a:lnSpc>
                <a:spcPts val="3300"/>
              </a:lnSpc>
              <a:spcAft>
                <a:spcPts val="0"/>
              </a:spcAft>
              <a:buNone/>
            </a:pPr>
            <a:r>
              <a:rPr lang="pt-BR" sz="3000" b="1" dirty="0">
                <a:solidFill>
                  <a:srgbClr val="FFFFFF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Java</a:t>
            </a:r>
          </a:p>
        </p:txBody>
      </p:sp>
      <p:sp>
        <p:nvSpPr>
          <p:cNvPr id="230" name="Desc Java"/>
          <p:cNvSpPr txBox="1"/>
          <p:nvPr/>
        </p:nvSpPr>
        <p:spPr>
          <a:xfrm>
            <a:off x="14616000" y="18360000"/>
            <a:ext cx="6156000" cy="10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3500"/>
              </a:lnSpc>
              <a:spcAft>
                <a:spcPts val="0"/>
              </a:spcAft>
              <a:buNone/>
            </a:pPr>
            <a:r>
              <a:rPr lang="pt-BR" sz="32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orientação a objetos, generics, lambdas e streams</a:t>
            </a:r>
          </a:p>
        </p:txBody>
      </p:sp>
      <p:sp>
        <p:nvSpPr>
          <p:cNvPr id="231" name="Ling JavaScript"/>
          <p:cNvSpPr/>
          <p:nvPr/>
        </p:nvSpPr>
        <p:spPr>
          <a:xfrm>
            <a:off x="11664000" y="19584000"/>
            <a:ext cx="2736000" cy="1080000"/>
          </a:xfrm>
          <a:prstGeom prst="roundRect">
            <a:avLst>
              <a:gd name="adj" fmla="val 12000"/>
            </a:avLst>
          </a:prstGeom>
          <a:solidFill>
            <a:srgbClr val="813709"/>
          </a:solidFill>
          <a:ln>
            <a:noFill/>
          </a:ln>
        </p:spPr>
        <p:txBody>
          <a:bodyPr wrap="square" lIns="108000" tIns="72000" rIns="108000" bIns="72000" anchor="ctr">
            <a:noAutofit/>
          </a:bodyPr>
          <a:lstStyle/>
          <a:p>
            <a:pPr algn="ctr">
              <a:lnSpc>
                <a:spcPts val="3300"/>
              </a:lnSpc>
              <a:spcAft>
                <a:spcPts val="0"/>
              </a:spcAft>
              <a:buNone/>
            </a:pPr>
            <a:r>
              <a:rPr lang="pt-BR" sz="3000" b="1" dirty="0">
                <a:solidFill>
                  <a:srgbClr val="FFFFFF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JavaScript</a:t>
            </a:r>
          </a:p>
        </p:txBody>
      </p:sp>
      <p:sp>
        <p:nvSpPr>
          <p:cNvPr id="232" name="Desc JavaScript"/>
          <p:cNvSpPr txBox="1"/>
          <p:nvPr/>
        </p:nvSpPr>
        <p:spPr>
          <a:xfrm>
            <a:off x="14616000" y="19584000"/>
            <a:ext cx="6156000" cy="10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3500"/>
              </a:lnSpc>
              <a:spcAft>
                <a:spcPts val="0"/>
              </a:spcAft>
              <a:buNone/>
            </a:pPr>
            <a:r>
              <a:rPr lang="pt-BR" sz="32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classes e recursos modernos</a:t>
            </a:r>
          </a:p>
        </p:txBody>
      </p:sp>
      <p:sp>
        <p:nvSpPr>
          <p:cNvPr id="233" name="Recursos"/>
          <p:cNvSpPr txBox="1"/>
          <p:nvPr/>
        </p:nvSpPr>
        <p:spPr>
          <a:xfrm>
            <a:off x="11664000" y="20952000"/>
            <a:ext cx="9108000" cy="309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017"/>
              </a:lnSpc>
              <a:spcAft>
                <a:spcPts val="0"/>
              </a:spcAft>
              <a:buNone/>
            </a:pPr>
            <a:r>
              <a:rPr lang="pt-BR" sz="36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Programas podem ser salvos na nuvem com login Google ou GitHub; sem login, o Compilaí funciona offline e pode ser instalado como aplicativo (PWA).</a:t>
            </a:r>
          </a:p>
        </p:txBody>
      </p:sp>
      <p:sp>
        <p:nvSpPr>
          <p:cNvPr id="234" name="Resultados"/>
          <p:cNvSpPr txBox="1"/>
          <p:nvPr/>
        </p:nvSpPr>
        <p:spPr>
          <a:xfrm>
            <a:off x="11664000" y="26467200"/>
            <a:ext cx="9108000" cy="453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017"/>
              </a:lnSpc>
              <a:spcAft>
                <a:spcPts val="800"/>
              </a:spcAft>
              <a:buNone/>
            </a:pPr>
            <a:r>
              <a:rPr lang="pt-BR" sz="36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O Compilaí é usado em lógica de programação no BSI e nos cursos técnicos de Eletrotécnica e de Redes de Computadores do IFBA – Campus Feira de Santana, em listas e provas.</a:t>
            </a:r>
          </a:p>
          <a:p>
            <a:pPr algn="l">
              <a:lnSpc>
                <a:spcPts val="4017"/>
              </a:lnSpc>
              <a:spcAft>
                <a:spcPts val="0"/>
              </a:spcAft>
              <a:buNone/>
            </a:pPr>
            <a:r>
              <a:rPr lang="pt-BR" sz="36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A V5 não apresentou erros de execução nem de compatibilidade, e o acervo feito para o VisuAlg pôde ser reutilizado sem modificações.</a:t>
            </a:r>
          </a:p>
        </p:txBody>
      </p:sp>
      <p:sp>
        <p:nvSpPr>
          <p:cNvPr id="235" name="Indicador 1"/>
          <p:cNvSpPr txBox="1"/>
          <p:nvPr/>
        </p:nvSpPr>
        <p:spPr>
          <a:xfrm>
            <a:off x="11664000" y="31147200"/>
            <a:ext cx="2892000" cy="2232000"/>
          </a:xfrm>
          <a:prstGeom prst="roundRect">
            <a:avLst/>
          </a:prstGeom>
          <a:solidFill>
            <a:srgbClr val="FBF1E6"/>
          </a:solidFill>
        </p:spPr>
        <p:txBody>
          <a:bodyPr wrap="square" lIns="360000" tIns="360000" rIns="360000" bIns="360000" rtlCol="0" anchor="ctr">
            <a:noAutofit/>
          </a:bodyPr>
          <a:lstStyle/>
          <a:p>
            <a:pPr algn="ctr">
              <a:lnSpc>
                <a:spcPts val="5000"/>
              </a:lnSpc>
              <a:spcAft>
                <a:spcPts val="0"/>
              </a:spcAft>
              <a:buNone/>
            </a:pPr>
            <a:r>
              <a:rPr lang="pt-BR" sz="4600" b="1" dirty="0">
                <a:solidFill>
                  <a:srgbClr val="813709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40/40</a:t>
            </a:r>
          </a:p>
          <a:p>
            <a:pPr algn="ctr">
              <a:lnSpc>
                <a:spcPts val="2900"/>
              </a:lnSpc>
              <a:spcAft>
                <a:spcPts val="0"/>
              </a:spcAft>
              <a:buNone/>
            </a:pPr>
            <a:r>
              <a:rPr lang="pt-BR" sz="2600" b="1" dirty="0">
                <a:solidFill>
                  <a:srgbClr val="1F2937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recursos do VisuAlg</a:t>
            </a:r>
          </a:p>
        </p:txBody>
      </p:sp>
      <p:sp>
        <p:nvSpPr>
          <p:cNvPr id="236" name="Indicador 2"/>
          <p:cNvSpPr txBox="1"/>
          <p:nvPr/>
        </p:nvSpPr>
        <p:spPr>
          <a:xfrm>
            <a:off x="14772000" y="31147200"/>
            <a:ext cx="2892000" cy="2232000"/>
          </a:xfrm>
          <a:prstGeom prst="roundRect">
            <a:avLst/>
          </a:prstGeom>
          <a:solidFill>
            <a:srgbClr val="FBF1E6"/>
          </a:solidFill>
        </p:spPr>
        <p:txBody>
          <a:bodyPr wrap="square" lIns="360000" tIns="360000" rIns="360000" bIns="360000" rtlCol="0" anchor="ctr">
            <a:noAutofit/>
          </a:bodyPr>
          <a:lstStyle/>
          <a:p>
            <a:pPr algn="ctr">
              <a:lnSpc>
                <a:spcPts val="5000"/>
              </a:lnSpc>
              <a:spcAft>
                <a:spcPts val="0"/>
              </a:spcAft>
              <a:buNone/>
            </a:pPr>
            <a:r>
              <a:rPr lang="pt-BR" sz="4600" b="1" dirty="0">
                <a:solidFill>
                  <a:srgbClr val="813709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6</a:t>
            </a:r>
          </a:p>
          <a:p>
            <a:pPr algn="ctr">
              <a:lnSpc>
                <a:spcPts val="2900"/>
              </a:lnSpc>
              <a:spcAft>
                <a:spcPts val="0"/>
              </a:spcAft>
              <a:buNone/>
            </a:pPr>
            <a:r>
              <a:rPr lang="pt-BR" sz="2600" b="1" dirty="0">
                <a:solidFill>
                  <a:srgbClr val="1F2937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linguagens</a:t>
            </a:r>
          </a:p>
        </p:txBody>
      </p:sp>
      <p:sp>
        <p:nvSpPr>
          <p:cNvPr id="237" name="Indicador 3"/>
          <p:cNvSpPr txBox="1"/>
          <p:nvPr/>
        </p:nvSpPr>
        <p:spPr>
          <a:xfrm>
            <a:off x="17880000" y="31147200"/>
            <a:ext cx="2892000" cy="2232000"/>
          </a:xfrm>
          <a:prstGeom prst="roundRect">
            <a:avLst/>
          </a:prstGeom>
          <a:solidFill>
            <a:srgbClr val="FBF1E6"/>
          </a:solidFill>
        </p:spPr>
        <p:txBody>
          <a:bodyPr wrap="square" lIns="360000" tIns="360000" rIns="360000" bIns="360000" rtlCol="0" anchor="ctr">
            <a:noAutofit/>
          </a:bodyPr>
          <a:lstStyle/>
          <a:p>
            <a:pPr algn="ctr">
              <a:lnSpc>
                <a:spcPts val="5000"/>
              </a:lnSpc>
              <a:spcAft>
                <a:spcPts val="0"/>
              </a:spcAft>
              <a:buNone/>
            </a:pPr>
            <a:r>
              <a:rPr lang="pt-BR" sz="4600" b="1" dirty="0">
                <a:solidFill>
                  <a:srgbClr val="813709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0</a:t>
            </a:r>
          </a:p>
          <a:p>
            <a:pPr algn="ctr">
              <a:lnSpc>
                <a:spcPts val="2900"/>
              </a:lnSpc>
              <a:spcAft>
                <a:spcPts val="0"/>
              </a:spcAft>
              <a:buNone/>
            </a:pPr>
            <a:r>
              <a:rPr lang="pt-BR" sz="2600" b="1" dirty="0">
                <a:solidFill>
                  <a:srgbClr val="1F2937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instalação</a:t>
            </a:r>
          </a:p>
        </p:txBody>
      </p:sp>
      <p:pic>
        <p:nvPicPr>
          <p:cNvPr id="238" name="Picture 237" descr="c_edito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64000" y="33667200"/>
            <a:ext cx="9108000" cy="6081256"/>
          </a:xfrm>
          <a:prstGeom prst="rect">
            <a:avLst/>
          </a:prstGeom>
        </p:spPr>
      </p:pic>
      <p:sp>
        <p:nvSpPr>
          <p:cNvPr id="238" name="Legenda"/>
          <p:cNvSpPr txBox="1"/>
          <p:nvPr/>
        </p:nvSpPr>
        <p:spPr>
          <a:xfrm>
            <a:off x="11664000" y="39856456"/>
            <a:ext cx="9108000" cy="878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3124"/>
              </a:lnSpc>
              <a:spcAft>
                <a:spcPts val="0"/>
              </a:spcAft>
              <a:buNone/>
            </a:pPr>
            <a:r>
              <a:rPr lang="pt-BR" sz="2800" b="1" dirty="0">
                <a:solidFill>
                  <a:srgbClr val="000000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Figura 1 – Editor Portugol do Compilaí no navegador</a:t>
            </a:r>
          </a:p>
          <a:p>
            <a:pPr algn="ctr">
              <a:lnSpc>
                <a:spcPts val="3124"/>
              </a:lnSpc>
              <a:spcAft>
                <a:spcPts val="0"/>
              </a:spcAft>
              <a:buNone/>
            </a:pPr>
            <a:r>
              <a:rPr lang="pt-BR" sz="28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Fonte: autoria própria (2026).</a:t>
            </a:r>
          </a:p>
        </p:txBody>
      </p:sp>
      <p:sp>
        <p:nvSpPr>
          <p:cNvPr id="239" name="Legenda tabela"/>
          <p:cNvSpPr txBox="1"/>
          <p:nvPr/>
        </p:nvSpPr>
        <p:spPr>
          <a:xfrm>
            <a:off x="22104000" y="12096000"/>
            <a:ext cx="9108000" cy="84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3124"/>
              </a:lnSpc>
              <a:spcAft>
                <a:spcPts val="0"/>
              </a:spcAft>
              <a:buNone/>
            </a:pPr>
            <a:r>
              <a:rPr lang="pt-BR" sz="2800" b="1" dirty="0">
                <a:solidFill>
                  <a:srgbClr val="000000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Tabela 1 – Comparação entre ferramentas de ensino de Portugol</a:t>
            </a:r>
          </a:p>
        </p:txBody>
      </p:sp>
      <p:graphicFrame>
        <p:nvGraphicFramePr>
          <p:cNvPr id="240" name="Table 239"/>
          <p:cNvGraphicFramePr>
            <a:graphicFrameLocks noGrp="1"/>
          </p:cNvGraphicFramePr>
          <p:nvPr/>
        </p:nvGraphicFramePr>
        <p:xfrm>
          <a:off x="22104000" y="13010400"/>
          <a:ext cx="9107999" cy="5616000"/>
        </p:xfrm>
        <a:graphic>
          <a:graphicData uri="http://schemas.openxmlformats.org/drawingml/2006/table">
            <a:tbl>
              <a:tblPr firstRow="1" bandRow="1"/>
              <a:tblGrid>
                <a:gridCol w="2304000"/>
                <a:gridCol w="1512000"/>
                <a:gridCol w="1764000"/>
                <a:gridCol w="1872000"/>
                <a:gridCol w="1655999"/>
              </a:tblGrid>
              <a:tr h="936000">
                <a:tc>
                  <a:txBody>
                    <a:bodyPr wrap="square"/>
                    <a:lstStyle/>
                    <a:p>
                      <a:pPr algn="l"/>
                      <a:r>
                        <a:rPr sz="2400" b="1">
                          <a:solidFill>
                            <a:srgbClr val="FFFFFF"/>
                          </a:solidFill>
                          <a:latin typeface="Montserrat"/>
                        </a:rPr>
                        <a:t/>
                      </a:r>
                    </a:p>
                  </a:txBody>
                  <a:tcPr marL="54000" marR="54000" marT="54000" marB="54000" anchor="ctr">
                    <a:solidFill>
                      <a:srgbClr val="8137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400" b="1">
                          <a:solidFill>
                            <a:srgbClr val="FFFFFF"/>
                          </a:solidFill>
                          <a:latin typeface="Montserrat"/>
                        </a:rPr>
                        <a:t>VisuAlg</a:t>
                      </a:r>
                    </a:p>
                  </a:txBody>
                  <a:tcPr marL="54000" marR="54000" marT="54000" marB="54000" anchor="ctr">
                    <a:solidFill>
                      <a:srgbClr val="8137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400" b="1">
                          <a:solidFill>
                            <a:srgbClr val="FFFFFF"/>
                          </a:solidFill>
                          <a:latin typeface="Montserrat"/>
                        </a:rPr>
                        <a:t>Portugol Studio</a:t>
                      </a:r>
                    </a:p>
                  </a:txBody>
                  <a:tcPr marL="54000" marR="54000" marT="54000" marB="54000" anchor="ctr">
                    <a:solidFill>
                      <a:srgbClr val="8137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400" b="1">
                          <a:solidFill>
                            <a:srgbClr val="FFFFFF"/>
                          </a:solidFill>
                          <a:latin typeface="Montserrat"/>
                        </a:rPr>
                        <a:t>JPortugol</a:t>
                      </a:r>
                    </a:p>
                  </a:txBody>
                  <a:tcPr marL="54000" marR="54000" marT="54000" marB="54000" anchor="ctr">
                    <a:solidFill>
                      <a:srgbClr val="8137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400" b="1">
                          <a:solidFill>
                            <a:srgbClr val="FFFFFF"/>
                          </a:solidFill>
                          <a:latin typeface="Montserrat"/>
                        </a:rPr>
                        <a:t>Compilaí</a:t>
                      </a:r>
                    </a:p>
                  </a:txBody>
                  <a:tcPr marL="54000" marR="54000" marT="54000" marB="54000" anchor="ctr">
                    <a:solidFill>
                      <a:srgbClr val="813709"/>
                    </a:solidFill>
                  </a:tcPr>
                </a:tc>
              </a:tr>
              <a:tr h="936000">
                <a:tc>
                  <a:txBody>
                    <a:bodyPr wrap="square"/>
                    <a:lstStyle/>
                    <a:p>
                      <a:pPr algn="l"/>
                      <a:r>
                        <a:rPr sz="2400" b="1">
                          <a:solidFill>
                            <a:srgbClr val="000000"/>
                          </a:solidFill>
                          <a:latin typeface="Montserrat"/>
                        </a:rPr>
                        <a:t>Navegador</a:t>
                      </a:r>
                    </a:p>
                  </a:txBody>
                  <a:tcPr marL="54000" marR="54000" marT="54000" marB="54000" anchor="ctr">
                    <a:solidFill>
                      <a:srgbClr val="FB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400" b="0">
                          <a:solidFill>
                            <a:srgbClr val="000000"/>
                          </a:solidFill>
                          <a:latin typeface="Montserrat"/>
                        </a:rPr>
                        <a:t>Não</a:t>
                      </a:r>
                    </a:p>
                  </a:txBody>
                  <a:tcPr marL="54000" marR="54000" marT="54000" marB="54000" anchor="ctr">
                    <a:solidFill>
                      <a:srgbClr val="FB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400" b="0">
                          <a:solidFill>
                            <a:srgbClr val="000000"/>
                          </a:solidFill>
                          <a:latin typeface="Montserrat"/>
                        </a:rPr>
                        <a:t>Não</a:t>
                      </a:r>
                    </a:p>
                  </a:txBody>
                  <a:tcPr marL="54000" marR="54000" marT="54000" marB="54000" anchor="ctr">
                    <a:solidFill>
                      <a:srgbClr val="FB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400" b="0">
                          <a:solidFill>
                            <a:srgbClr val="000000"/>
                          </a:solidFill>
                          <a:latin typeface="Montserrat"/>
                        </a:rPr>
                        <a:t>Não</a:t>
                      </a:r>
                    </a:p>
                  </a:txBody>
                  <a:tcPr marL="54000" marR="54000" marT="54000" marB="54000" anchor="ctr">
                    <a:solidFill>
                      <a:srgbClr val="FB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400" b="0">
                          <a:solidFill>
                            <a:srgbClr val="000000"/>
                          </a:solidFill>
                          <a:latin typeface="Montserrat"/>
                        </a:rPr>
                        <a:t>Sim</a:t>
                      </a:r>
                    </a:p>
                  </a:txBody>
                  <a:tcPr marL="54000" marR="54000" marT="54000" marB="54000" anchor="ctr">
                    <a:solidFill>
                      <a:srgbClr val="FBF1E6"/>
                    </a:solidFill>
                  </a:tcPr>
                </a:tc>
              </a:tr>
              <a:tr h="936000">
                <a:tc>
                  <a:txBody>
                    <a:bodyPr wrap="square"/>
                    <a:lstStyle/>
                    <a:p>
                      <a:pPr algn="l"/>
                      <a:r>
                        <a:rPr sz="2400" b="1">
                          <a:solidFill>
                            <a:srgbClr val="000000"/>
                          </a:solidFill>
                          <a:latin typeface="Montserrat"/>
                        </a:rPr>
                        <a:t>Instalação</a:t>
                      </a:r>
                    </a:p>
                  </a:txBody>
                  <a:tcPr marL="54000" marR="54000" marT="54000" marB="54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400" b="0">
                          <a:solidFill>
                            <a:srgbClr val="000000"/>
                          </a:solidFill>
                          <a:latin typeface="Montserrat"/>
                        </a:rPr>
                        <a:t>Sim</a:t>
                      </a:r>
                    </a:p>
                  </a:txBody>
                  <a:tcPr marL="54000" marR="54000" marT="54000" marB="54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400" b="0">
                          <a:solidFill>
                            <a:srgbClr val="000000"/>
                          </a:solidFill>
                          <a:latin typeface="Montserrat"/>
                        </a:rPr>
                        <a:t>Sim</a:t>
                      </a:r>
                    </a:p>
                  </a:txBody>
                  <a:tcPr marL="54000" marR="54000" marT="54000" marB="54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400" b="0">
                          <a:solidFill>
                            <a:srgbClr val="000000"/>
                          </a:solidFill>
                          <a:latin typeface="Montserrat"/>
                        </a:rPr>
                        <a:t>Sim</a:t>
                      </a:r>
                    </a:p>
                  </a:txBody>
                  <a:tcPr marL="54000" marR="54000" marT="54000" marB="54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400" b="0">
                          <a:solidFill>
                            <a:srgbClr val="000000"/>
                          </a:solidFill>
                          <a:latin typeface="Montserrat"/>
                        </a:rPr>
                        <a:t>Não</a:t>
                      </a:r>
                    </a:p>
                  </a:txBody>
                  <a:tcPr marL="54000" marR="54000" marT="54000" marB="54000" anchor="ctr">
                    <a:solidFill>
                      <a:srgbClr val="FFFFFF"/>
                    </a:solidFill>
                  </a:tcPr>
                </a:tc>
              </a:tr>
              <a:tr h="936000">
                <a:tc>
                  <a:txBody>
                    <a:bodyPr wrap="square"/>
                    <a:lstStyle/>
                    <a:p>
                      <a:pPr algn="l"/>
                      <a:r>
                        <a:rPr sz="2400" b="1">
                          <a:solidFill>
                            <a:srgbClr val="000000"/>
                          </a:solidFill>
                          <a:latin typeface="Montserrat"/>
                        </a:rPr>
                        <a:t>Compat. VisuAlg</a:t>
                      </a:r>
                    </a:p>
                  </a:txBody>
                  <a:tcPr marL="54000" marR="54000" marT="54000" marB="54000" anchor="ctr">
                    <a:solidFill>
                      <a:srgbClr val="FB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400" b="0">
                          <a:solidFill>
                            <a:srgbClr val="000000"/>
                          </a:solidFill>
                          <a:latin typeface="Montserrat"/>
                        </a:rPr>
                        <a:t>Ref.</a:t>
                      </a:r>
                    </a:p>
                  </a:txBody>
                  <a:tcPr marL="54000" marR="54000" marT="54000" marB="54000" anchor="ctr">
                    <a:solidFill>
                      <a:srgbClr val="FB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400" b="0">
                          <a:solidFill>
                            <a:srgbClr val="000000"/>
                          </a:solidFill>
                          <a:latin typeface="Montserrat"/>
                        </a:rPr>
                        <a:t>Parcial</a:t>
                      </a:r>
                    </a:p>
                  </a:txBody>
                  <a:tcPr marL="54000" marR="54000" marT="54000" marB="54000" anchor="ctr">
                    <a:solidFill>
                      <a:srgbClr val="FB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400" b="0">
                          <a:solidFill>
                            <a:srgbClr val="000000"/>
                          </a:solidFill>
                          <a:latin typeface="Montserrat"/>
                        </a:rPr>
                        <a:t>Alta</a:t>
                      </a:r>
                    </a:p>
                  </a:txBody>
                  <a:tcPr marL="54000" marR="54000" marT="54000" marB="54000" anchor="ctr">
                    <a:solidFill>
                      <a:srgbClr val="FB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400" b="0">
                          <a:solidFill>
                            <a:srgbClr val="000000"/>
                          </a:solidFill>
                          <a:latin typeface="Montserrat"/>
                        </a:rPr>
                        <a:t>100%</a:t>
                      </a:r>
                    </a:p>
                  </a:txBody>
                  <a:tcPr marL="54000" marR="54000" marT="54000" marB="54000" anchor="ctr">
                    <a:solidFill>
                      <a:srgbClr val="FBF1E6"/>
                    </a:solidFill>
                  </a:tcPr>
                </a:tc>
              </a:tr>
              <a:tr h="936000">
                <a:tc>
                  <a:txBody>
                    <a:bodyPr wrap="square"/>
                    <a:lstStyle/>
                    <a:p>
                      <a:pPr algn="l"/>
                      <a:r>
                        <a:rPr sz="2400" b="1">
                          <a:solidFill>
                            <a:srgbClr val="000000"/>
                          </a:solidFill>
                          <a:latin typeface="Montserrat"/>
                        </a:rPr>
                        <a:t>Celular</a:t>
                      </a:r>
                    </a:p>
                  </a:txBody>
                  <a:tcPr marL="54000" marR="54000" marT="54000" marB="54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400" b="0">
                          <a:solidFill>
                            <a:srgbClr val="000000"/>
                          </a:solidFill>
                          <a:latin typeface="Montserrat"/>
                        </a:rPr>
                        <a:t>Não</a:t>
                      </a:r>
                    </a:p>
                  </a:txBody>
                  <a:tcPr marL="54000" marR="54000" marT="54000" marB="54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400" b="0">
                          <a:solidFill>
                            <a:srgbClr val="000000"/>
                          </a:solidFill>
                          <a:latin typeface="Montserrat"/>
                        </a:rPr>
                        <a:t>Não</a:t>
                      </a:r>
                    </a:p>
                  </a:txBody>
                  <a:tcPr marL="54000" marR="54000" marT="54000" marB="54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400" b="0">
                          <a:solidFill>
                            <a:srgbClr val="000000"/>
                          </a:solidFill>
                          <a:latin typeface="Montserrat"/>
                        </a:rPr>
                        <a:t>Não</a:t>
                      </a:r>
                    </a:p>
                  </a:txBody>
                  <a:tcPr marL="54000" marR="54000" marT="54000" marB="54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400" b="0">
                          <a:solidFill>
                            <a:srgbClr val="000000"/>
                          </a:solidFill>
                          <a:latin typeface="Montserrat"/>
                        </a:rPr>
                        <a:t>Sim</a:t>
                      </a:r>
                    </a:p>
                  </a:txBody>
                  <a:tcPr marL="54000" marR="54000" marT="54000" marB="54000" anchor="ctr">
                    <a:solidFill>
                      <a:srgbClr val="FFFFFF"/>
                    </a:solidFill>
                  </a:tcPr>
                </a:tc>
              </a:tr>
              <a:tr h="936000">
                <a:tc>
                  <a:txBody>
                    <a:bodyPr wrap="square"/>
                    <a:lstStyle/>
                    <a:p>
                      <a:pPr algn="l"/>
                      <a:r>
                        <a:rPr sz="2400" b="1">
                          <a:solidFill>
                            <a:srgbClr val="000000"/>
                          </a:solidFill>
                          <a:latin typeface="Montserrat"/>
                        </a:rPr>
                        <a:t>Manutenção</a:t>
                      </a:r>
                    </a:p>
                  </a:txBody>
                  <a:tcPr marL="54000" marR="54000" marT="54000" marB="54000" anchor="ctr">
                    <a:solidFill>
                      <a:srgbClr val="FB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400" b="0">
                          <a:solidFill>
                            <a:srgbClr val="000000"/>
                          </a:solidFill>
                          <a:latin typeface="Montserrat"/>
                        </a:rPr>
                        <a:t>Não</a:t>
                      </a:r>
                    </a:p>
                  </a:txBody>
                  <a:tcPr marL="54000" marR="54000" marT="54000" marB="54000" anchor="ctr">
                    <a:solidFill>
                      <a:srgbClr val="FB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400" b="0">
                          <a:solidFill>
                            <a:srgbClr val="000000"/>
                          </a:solidFill>
                          <a:latin typeface="Montserrat"/>
                        </a:rPr>
                        <a:t>Parcial</a:t>
                      </a:r>
                    </a:p>
                  </a:txBody>
                  <a:tcPr marL="54000" marR="54000" marT="54000" marB="54000" anchor="ctr">
                    <a:solidFill>
                      <a:srgbClr val="FB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400" b="0">
                          <a:solidFill>
                            <a:srgbClr val="000000"/>
                          </a:solidFill>
                          <a:latin typeface="Montserrat"/>
                        </a:rPr>
                        <a:t>Não</a:t>
                      </a:r>
                    </a:p>
                  </a:txBody>
                  <a:tcPr marL="54000" marR="54000" marT="54000" marB="54000" anchor="ctr">
                    <a:solidFill>
                      <a:srgbClr val="FB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400" b="0">
                          <a:solidFill>
                            <a:srgbClr val="000000"/>
                          </a:solidFill>
                          <a:latin typeface="Montserrat"/>
                        </a:rPr>
                        <a:t>Sim</a:t>
                      </a:r>
                    </a:p>
                  </a:txBody>
                  <a:tcPr marL="54000" marR="54000" marT="54000" marB="54000" anchor="ctr">
                    <a:solidFill>
                      <a:srgbClr val="FBF1E6"/>
                    </a:solidFill>
                  </a:tcPr>
                </a:tc>
              </a:tr>
            </a:tbl>
          </a:graphicData>
        </a:graphic>
      </p:graphicFrame>
      <p:sp>
        <p:nvSpPr>
          <p:cNvPr id="240" name="Fonte"/>
          <p:cNvSpPr txBox="1"/>
          <p:nvPr/>
        </p:nvSpPr>
        <p:spPr>
          <a:xfrm>
            <a:off x="22104000" y="18698400"/>
            <a:ext cx="9108000" cy="468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3124"/>
              </a:lnSpc>
              <a:spcAft>
                <a:spcPts val="0"/>
              </a:spcAft>
              <a:buNone/>
            </a:pPr>
            <a:r>
              <a:rPr lang="pt-BR" sz="28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Fonte: elaborado pelos autores, 2026.</a:t>
            </a:r>
          </a:p>
        </p:txBody>
      </p:sp>
      <p:sp>
        <p:nvSpPr>
          <p:cNvPr id="241" name="Conclusoes"/>
          <p:cNvSpPr txBox="1"/>
          <p:nvPr/>
        </p:nvSpPr>
        <p:spPr>
          <a:xfrm>
            <a:off x="22104000" y="21513600"/>
            <a:ext cx="9108000" cy="489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017"/>
              </a:lnSpc>
              <a:spcAft>
                <a:spcPts val="800"/>
              </a:spcAft>
              <a:buNone/>
            </a:pPr>
            <a:r>
              <a:rPr lang="pt-BR" sz="36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Gratuito e sem cadastro, o Compilaí elimina a instalação local, a restrição de sistema operacional e a incompatibilidade com celulares, e está registrado no INPI.</a:t>
            </a:r>
          </a:p>
          <a:p>
            <a:pPr algn="l">
              <a:lnSpc>
                <a:spcPts val="4017"/>
              </a:lnSpc>
              <a:spcAft>
                <a:spcPts val="0"/>
              </a:spcAft>
              <a:buNone/>
            </a:pPr>
            <a:r>
              <a:rPr lang="pt-BR" sz="3600" b="1" dirty="0">
                <a:solidFill>
                  <a:srgbClr val="000000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 xml:space="preserve">Trabalhos futuros: </a:t>
            </a:r>
            <a:r>
              <a:rPr lang="pt-BR" sz="36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autocompletar, exportação .alg e estudos de aprendizagem e evasão.</a:t>
            </a:r>
          </a:p>
        </p:txBody>
      </p:sp>
      <p:sp>
        <p:nvSpPr>
          <p:cNvPr id="242" name="Agradecimentos"/>
          <p:cNvSpPr txBox="1"/>
          <p:nvPr/>
        </p:nvSpPr>
        <p:spPr>
          <a:xfrm>
            <a:off x="22104000" y="28828800"/>
            <a:ext cx="9108000" cy="2088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017"/>
              </a:lnSpc>
              <a:spcAft>
                <a:spcPts val="0"/>
              </a:spcAft>
              <a:buNone/>
            </a:pPr>
            <a:r>
              <a:rPr lang="pt-BR" sz="36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Ao IFBA, pelo apoio institucional, e ao CNPq, pela bolsa de Iniciação Científica.</a:t>
            </a:r>
          </a:p>
        </p:txBody>
      </p:sp>
      <p:pic>
        <p:nvPicPr>
          <p:cNvPr id="243" name="Picture 242" descr="qr_c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104000" y="31132800"/>
            <a:ext cx="2880000" cy="2880000"/>
          </a:xfrm>
          <a:prstGeom prst="rect">
            <a:avLst/>
          </a:prstGeom>
        </p:spPr>
      </p:pic>
      <p:sp>
        <p:nvSpPr>
          <p:cNvPr id="243" name="Link"/>
          <p:cNvSpPr txBox="1"/>
          <p:nvPr/>
        </p:nvSpPr>
        <p:spPr>
          <a:xfrm>
            <a:off x="25272000" y="31132800"/>
            <a:ext cx="5940000" cy="28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3794"/>
              </a:lnSpc>
              <a:spcAft>
                <a:spcPts val="200"/>
              </a:spcAft>
              <a:buNone/>
            </a:pPr>
            <a:r>
              <a:rPr lang="pt-BR" sz="34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Acesse:</a:t>
            </a:r>
          </a:p>
          <a:p>
            <a:pPr algn="l">
              <a:lnSpc>
                <a:spcPts val="3794"/>
              </a:lnSpc>
              <a:spcAft>
                <a:spcPts val="0"/>
              </a:spcAft>
              <a:buNone/>
            </a:pPr>
            <a:r>
              <a:rPr lang="pt-BR" sz="3400" b="1" dirty="0">
                <a:solidFill>
                  <a:srgbClr val="813709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www.compilai.com.br</a:t>
            </a:r>
          </a:p>
        </p:txBody>
      </p:sp>
      <p:sp>
        <p:nvSpPr>
          <p:cNvPr id="244" name="Referencias"/>
          <p:cNvSpPr txBox="1"/>
          <p:nvPr/>
        </p:nvSpPr>
        <p:spPr>
          <a:xfrm>
            <a:off x="22104000" y="36432000"/>
            <a:ext cx="9108000" cy="575999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740"/>
              </a:lnSpc>
              <a:spcAft>
                <a:spcPts val="400"/>
              </a:spcAft>
              <a:buNone/>
            </a:pPr>
            <a:r>
              <a:rPr lang="pt-BR" sz="34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 xml:space="preserve">Alves, F. e Lima, J. (2018). Visualg: um ambiente educacional para aprendizagem de algoritmos. </a:t>
            </a:r>
            <a:r>
              <a:rPr lang="pt-BR" sz="3400" b="1" dirty="0">
                <a:solidFill>
                  <a:srgbClr val="000000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Revista Brasileira de Ensino de Computação</a:t>
            </a:r>
            <a:r>
              <a:rPr lang="pt-BR" sz="34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, 10(1):34–48.</a:t>
            </a:r>
          </a:p>
          <a:p>
            <a:pPr algn="l">
              <a:lnSpc>
                <a:spcPts val="3740"/>
              </a:lnSpc>
              <a:spcAft>
                <a:spcPts val="400"/>
              </a:spcAft>
              <a:buNone/>
            </a:pPr>
            <a:r>
              <a:rPr lang="pt-BR" sz="34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 xml:space="preserve">Schwaber, K. e Beedle, M. (2004). </a:t>
            </a:r>
            <a:r>
              <a:rPr lang="pt-BR" sz="3400" b="1" dirty="0">
                <a:solidFill>
                  <a:srgbClr val="000000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Agile Software Development with Scrum</a:t>
            </a:r>
            <a:r>
              <a:rPr lang="pt-BR" sz="34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. Prentice Hall.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422</Words>
  <Application>Microsoft Office PowerPoint</Application>
  <PresentationFormat>Personalizar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Montserrat</vt:lpstr>
      <vt:lpstr>Arial</vt:lpstr>
      <vt:lpstr>Calibri</vt:lpstr>
      <vt:lpstr>Office Theme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Área de conhecimento/Subárea (Preencher com base no item 5 do regulamento): ODS vinculado(s) (Preencher o código do ODS, com base no item 6 do regulamento):</dc:title>
  <cp:lastModifiedBy>Elianderson Lima</cp:lastModifiedBy>
  <cp:revision>4</cp:revision>
  <dcterms:created xsi:type="dcterms:W3CDTF">2006-08-16T00:00:00Z</dcterms:created>
  <dcterms:modified xsi:type="dcterms:W3CDTF">2026-10-09T14:28:49Z</dcterms:modified>
  <dc:identifier>DAHWsWWrIA4</dc:identifier>
</cp:coreProperties>
</file>